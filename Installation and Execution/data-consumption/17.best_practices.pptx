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60" r:id="rId3"/>
    <p:sldId id="257" r:id="rId4"/>
    <p:sldId id="258" r:id="rId5"/>
    <p:sldId id="259"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51"/>
    <p:restoredTop sz="97155"/>
  </p:normalViewPr>
  <p:slideViewPr>
    <p:cSldViewPr snapToGrid="0" snapToObjects="1">
      <p:cViewPr varScale="1">
        <p:scale>
          <a:sx n="158" d="100"/>
          <a:sy n="158" d="100"/>
        </p:scale>
        <p:origin x="232"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GB"/>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A8E94C54-6E10-8947-A798-1F652E234931}" type="datetimeFigureOut">
              <a:rPr lang="en-US" smtClean="0"/>
              <a:t>12/26/21</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3A67405F-C1B3-4140-A46B-CA90B4023F70}" type="slidenum">
              <a:rPr lang="en-US" smtClean="0"/>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39396291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94C54-6E10-8947-A798-1F652E234931}"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3863872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A8E94C54-6E10-8947-A798-1F652E234931}" type="datetimeFigureOut">
              <a:rPr lang="en-US" smtClean="0"/>
              <a:t>12/26/21</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3A67405F-C1B3-4140-A46B-CA90B4023F70}" type="slidenum">
              <a:rPr lang="en-US" smtClean="0"/>
              <a:t>‹#›</a:t>
            </a:fld>
            <a:endParaRPr lang="en-US"/>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227746562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GB"/>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A8E94C54-6E10-8947-A798-1F652E234931}" type="datetimeFigureOut">
              <a:rPr lang="en-US" smtClean="0"/>
              <a:t>12/26/21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3422043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GB"/>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A8E94C54-6E10-8947-A798-1F652E234931}" type="datetimeFigureOut">
              <a:rPr lang="en-US" smtClean="0"/>
              <a:t>12/26/21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3955554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A8E94C54-6E10-8947-A798-1F652E234931}" type="datetimeFigureOut">
              <a:rPr lang="en-US" smtClean="0"/>
              <a:t>12/26/21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27987713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E94C54-6E10-8947-A798-1F652E234931}" type="datetimeFigureOut">
              <a:rPr lang="en-US" smtClean="0"/>
              <a:t>12/26/21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2405297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GB"/>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8E94C54-6E10-8947-A798-1F652E234931}"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A67405F-C1B3-4140-A46B-CA90B4023F7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139651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A8E94C54-6E10-8947-A798-1F652E234931}" type="datetimeFigureOut">
              <a:rPr lang="en-US" smtClean="0"/>
              <a:t>12/26/21</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3A67405F-C1B3-4140-A46B-CA90B4023F70}" type="slidenum">
              <a:rPr lang="en-US" smtClean="0"/>
              <a:t>‹#›</a:t>
            </a:fld>
            <a:endParaRPr lang="en-US"/>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374408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94C54-6E10-8947-A798-1F652E234931}"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3130876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8E94C54-6E10-8947-A798-1F652E234931}" type="datetimeFigureOut">
              <a:rPr lang="en-US" smtClean="0"/>
              <a:t>12/26/21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67405F-C1B3-4140-A46B-CA90B4023F70}" type="slidenum">
              <a:rPr lang="en-US" smtClean="0"/>
              <a:t>‹#›</a:t>
            </a:fld>
            <a:endParaRPr lang="en-US"/>
          </a:p>
        </p:txBody>
      </p:sp>
    </p:spTree>
    <p:extLst>
      <p:ext uri="{BB962C8B-B14F-4D97-AF65-F5344CB8AC3E}">
        <p14:creationId xmlns:p14="http://schemas.microsoft.com/office/powerpoint/2010/main" val="2425775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A8E94C54-6E10-8947-A798-1F652E234931}" type="datetimeFigureOut">
              <a:rPr lang="en-US" smtClean="0"/>
              <a:t>12/26/21</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3A67405F-C1B3-4140-A46B-CA90B4023F70}" type="slidenum">
              <a:rPr lang="en-US" smtClean="0"/>
              <a:t>‹#›</a:t>
            </a:fld>
            <a:endParaRPr lang="en-US"/>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336998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B8F84-0A2B-DC4F-95D2-00380420333D}"/>
              </a:ext>
            </a:extLst>
          </p:cNvPr>
          <p:cNvSpPr>
            <a:spLocks noGrp="1"/>
          </p:cNvSpPr>
          <p:nvPr>
            <p:ph type="ctrTitle"/>
          </p:nvPr>
        </p:nvSpPr>
        <p:spPr/>
        <p:txBody>
          <a:bodyPr/>
          <a:lstStyle/>
          <a:p>
            <a:r>
              <a:rPr lang="en-US" dirty="0"/>
              <a:t>Azure Purview – Best Practices</a:t>
            </a:r>
          </a:p>
        </p:txBody>
      </p:sp>
      <p:sp>
        <p:nvSpPr>
          <p:cNvPr id="3" name="Subtitle 2">
            <a:extLst>
              <a:ext uri="{FF2B5EF4-FFF2-40B4-BE49-F238E27FC236}">
                <a16:creationId xmlns:a16="http://schemas.microsoft.com/office/drawing/2014/main" id="{380B219F-B25A-D449-A7C6-BC87964F03B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55628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107F8-50DC-974A-93C8-1AE2D4F8F7BA}"/>
              </a:ext>
            </a:extLst>
          </p:cNvPr>
          <p:cNvSpPr>
            <a:spLocks noGrp="1"/>
          </p:cNvSpPr>
          <p:nvPr>
            <p:ph type="title"/>
          </p:nvPr>
        </p:nvSpPr>
        <p:spPr/>
        <p:txBody>
          <a:bodyPr/>
          <a:lstStyle/>
          <a:p>
            <a:r>
              <a:rPr lang="en-US" dirty="0"/>
              <a:t>Why Best Practices?</a:t>
            </a:r>
          </a:p>
        </p:txBody>
      </p:sp>
      <p:sp>
        <p:nvSpPr>
          <p:cNvPr id="3" name="Content Placeholder 2">
            <a:extLst>
              <a:ext uri="{FF2B5EF4-FFF2-40B4-BE49-F238E27FC236}">
                <a16:creationId xmlns:a16="http://schemas.microsoft.com/office/drawing/2014/main" id="{C018BAD2-E5BE-2F4C-A948-6D6B4B7EE2B0}"/>
              </a:ext>
            </a:extLst>
          </p:cNvPr>
          <p:cNvSpPr>
            <a:spLocks noGrp="1"/>
          </p:cNvSpPr>
          <p:nvPr>
            <p:ph idx="1"/>
          </p:nvPr>
        </p:nvSpPr>
        <p:spPr/>
        <p:txBody>
          <a:bodyPr/>
          <a:lstStyle/>
          <a:p>
            <a:r>
              <a:rPr lang="en-IN" dirty="0"/>
              <a:t>Best practices enable you to optimize cost, build operational excellence, improve security compliance and performance efficiency.</a:t>
            </a:r>
            <a:endParaRPr lang="en-US" dirty="0"/>
          </a:p>
        </p:txBody>
      </p:sp>
    </p:spTree>
    <p:extLst>
      <p:ext uri="{BB962C8B-B14F-4D97-AF65-F5344CB8AC3E}">
        <p14:creationId xmlns:p14="http://schemas.microsoft.com/office/powerpoint/2010/main" val="23086023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20860-4F8E-2545-947A-B18E842CF738}"/>
              </a:ext>
            </a:extLst>
          </p:cNvPr>
          <p:cNvSpPr>
            <a:spLocks noGrp="1"/>
          </p:cNvSpPr>
          <p:nvPr>
            <p:ph type="title"/>
          </p:nvPr>
        </p:nvSpPr>
        <p:spPr/>
        <p:txBody>
          <a:bodyPr/>
          <a:lstStyle/>
          <a:p>
            <a:r>
              <a:rPr lang="en-US" dirty="0"/>
              <a:t>Classification Best Practices</a:t>
            </a:r>
          </a:p>
        </p:txBody>
      </p:sp>
      <p:sp>
        <p:nvSpPr>
          <p:cNvPr id="3" name="Content Placeholder 2">
            <a:extLst>
              <a:ext uri="{FF2B5EF4-FFF2-40B4-BE49-F238E27FC236}">
                <a16:creationId xmlns:a16="http://schemas.microsoft.com/office/drawing/2014/main" id="{5BD4E41F-4734-4D44-9B4D-7F98A8757214}"/>
              </a:ext>
            </a:extLst>
          </p:cNvPr>
          <p:cNvSpPr>
            <a:spLocks noGrp="1"/>
          </p:cNvSpPr>
          <p:nvPr>
            <p:ph idx="1"/>
          </p:nvPr>
        </p:nvSpPr>
        <p:spPr/>
        <p:txBody>
          <a:bodyPr>
            <a:normAutofit fontScale="92500"/>
          </a:bodyPr>
          <a:lstStyle/>
          <a:p>
            <a:r>
              <a:rPr lang="en-IN" dirty="0"/>
              <a:t>By using a </a:t>
            </a:r>
            <a:r>
              <a:rPr lang="en-IN" i="1" dirty="0"/>
              <a:t>scan rule set</a:t>
            </a:r>
            <a:r>
              <a:rPr lang="en-IN" dirty="0"/>
              <a:t>, can configure the relevant classifications that should be applied to the particular scan for the data source. Select the relevant system classifications, or select custom classifications if you've created one for the data you're scanning.</a:t>
            </a:r>
          </a:p>
          <a:p>
            <a:r>
              <a:rPr lang="en-IN" dirty="0"/>
              <a:t>For example, If we have a image, only the specific selected system and custom classifications will be applied for the data source you're scanning (for example, financial data).</a:t>
            </a:r>
          </a:p>
          <a:p>
            <a:r>
              <a:rPr lang="en-IN" dirty="0"/>
              <a:t>Create custom classifications only if the available system classifications don't meet your needs.</a:t>
            </a:r>
          </a:p>
          <a:p>
            <a:r>
              <a:rPr lang="en-IN" dirty="0"/>
              <a:t>For the </a:t>
            </a:r>
            <a:r>
              <a:rPr lang="en-IN" i="1" dirty="0"/>
              <a:t>name</a:t>
            </a:r>
            <a:r>
              <a:rPr lang="en-IN" dirty="0"/>
              <a:t> of the custom classification, it's a good practice to use a namespace convention (for example, </a:t>
            </a:r>
            <a:r>
              <a:rPr lang="en-IN" i="1" dirty="0"/>
              <a:t>&lt;company name&gt;.&lt;business unit&gt;.&lt;custom classification name&gt;</a:t>
            </a:r>
            <a:r>
              <a:rPr lang="en-IN" dirty="0"/>
              <a:t>).</a:t>
            </a:r>
          </a:p>
          <a:p>
            <a:endParaRPr lang="en-IN" dirty="0"/>
          </a:p>
          <a:p>
            <a:endParaRPr lang="en-US" dirty="0"/>
          </a:p>
        </p:txBody>
      </p:sp>
    </p:spTree>
    <p:extLst>
      <p:ext uri="{BB962C8B-B14F-4D97-AF65-F5344CB8AC3E}">
        <p14:creationId xmlns:p14="http://schemas.microsoft.com/office/powerpoint/2010/main" val="3091227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C9530-CF30-2242-8D74-6B1BA5FD95B7}"/>
              </a:ext>
            </a:extLst>
          </p:cNvPr>
          <p:cNvSpPr>
            <a:spLocks noGrp="1"/>
          </p:cNvSpPr>
          <p:nvPr>
            <p:ph type="title"/>
          </p:nvPr>
        </p:nvSpPr>
        <p:spPr/>
        <p:txBody>
          <a:bodyPr/>
          <a:lstStyle/>
          <a:p>
            <a:r>
              <a:rPr lang="en-US" dirty="0"/>
              <a:t>Lineage Best Practices</a:t>
            </a:r>
          </a:p>
        </p:txBody>
      </p:sp>
      <p:sp>
        <p:nvSpPr>
          <p:cNvPr id="3" name="Content Placeholder 2">
            <a:extLst>
              <a:ext uri="{FF2B5EF4-FFF2-40B4-BE49-F238E27FC236}">
                <a16:creationId xmlns:a16="http://schemas.microsoft.com/office/drawing/2014/main" id="{44A28B6C-73D9-C24F-9798-A45901D835B4}"/>
              </a:ext>
            </a:extLst>
          </p:cNvPr>
          <p:cNvSpPr>
            <a:spLocks noGrp="1"/>
          </p:cNvSpPr>
          <p:nvPr>
            <p:ph idx="1"/>
          </p:nvPr>
        </p:nvSpPr>
        <p:spPr/>
        <p:txBody>
          <a:bodyPr>
            <a:normAutofit lnSpcReduction="10000"/>
          </a:bodyPr>
          <a:lstStyle/>
          <a:p>
            <a:r>
              <a:rPr lang="en-IN" dirty="0"/>
              <a:t>Data lineage won't be reported to the </a:t>
            </a:r>
            <a:r>
              <a:rPr lang="en-IN" dirty="0" err="1"/>
              <a:t>catalog</a:t>
            </a:r>
            <a:r>
              <a:rPr lang="en-IN" dirty="0"/>
              <a:t> automatically until the Data Factory connection status turns to Connected. The rest of status Disconnected and </a:t>
            </a:r>
            <a:r>
              <a:rPr lang="en-IN" dirty="0" err="1"/>
              <a:t>CannotAccess</a:t>
            </a:r>
            <a:r>
              <a:rPr lang="en-IN" dirty="0"/>
              <a:t> cannot capture lineage.</a:t>
            </a:r>
          </a:p>
          <a:p>
            <a:r>
              <a:rPr lang="en-IN" dirty="0"/>
              <a:t>Each Data Factory instance can connect to only one Purview account. You can establish new connection in another Purview account, but this will turn existing connection to disconnected.</a:t>
            </a:r>
          </a:p>
          <a:p>
            <a:r>
              <a:rPr lang="en-IN" dirty="0"/>
              <a:t>Data factory's managed identity is used to authenticate lineage in Purview account, the data factory's managed identity Data Curator role on Purview root collection is required.</a:t>
            </a:r>
          </a:p>
          <a:p>
            <a:r>
              <a:rPr lang="en-IN" dirty="0"/>
              <a:t>Support no more than 10 data factories at once. If you want to add more than 10 data factories at once, please file a support ticket.</a:t>
            </a:r>
          </a:p>
          <a:p>
            <a:endParaRPr lang="en-US" dirty="0"/>
          </a:p>
        </p:txBody>
      </p:sp>
    </p:spTree>
    <p:extLst>
      <p:ext uri="{BB962C8B-B14F-4D97-AF65-F5344CB8AC3E}">
        <p14:creationId xmlns:p14="http://schemas.microsoft.com/office/powerpoint/2010/main" val="38444350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D7904-DDFA-4649-A983-85C239973EA9}"/>
              </a:ext>
            </a:extLst>
          </p:cNvPr>
          <p:cNvSpPr>
            <a:spLocks noGrp="1"/>
          </p:cNvSpPr>
          <p:nvPr>
            <p:ph type="title"/>
          </p:nvPr>
        </p:nvSpPr>
        <p:spPr/>
        <p:txBody>
          <a:bodyPr/>
          <a:lstStyle/>
          <a:p>
            <a:r>
              <a:rPr lang="en-US" dirty="0"/>
              <a:t>Scanning Best Practices</a:t>
            </a:r>
          </a:p>
        </p:txBody>
      </p:sp>
      <p:sp>
        <p:nvSpPr>
          <p:cNvPr id="3" name="Content Placeholder 2">
            <a:extLst>
              <a:ext uri="{FF2B5EF4-FFF2-40B4-BE49-F238E27FC236}">
                <a16:creationId xmlns:a16="http://schemas.microsoft.com/office/drawing/2014/main" id="{F99BB5AD-0BB5-8D4D-8124-7674EA85EBE6}"/>
              </a:ext>
            </a:extLst>
          </p:cNvPr>
          <p:cNvSpPr>
            <a:spLocks noGrp="1"/>
          </p:cNvSpPr>
          <p:nvPr>
            <p:ph idx="1"/>
          </p:nvPr>
        </p:nvSpPr>
        <p:spPr/>
        <p:txBody>
          <a:bodyPr>
            <a:normAutofit fontScale="92500" lnSpcReduction="10000"/>
          </a:bodyPr>
          <a:lstStyle/>
          <a:p>
            <a:r>
              <a:rPr lang="en-IN" dirty="0"/>
              <a:t>If the metadata of the same data source is consumed by multiple teams, you can register and manage the data source at a parent collection and create corresponding scans under each subcollection, so relevant assets appear under each child collection. Sources without parents are grouped in a dotted box in the map view with no arrows linking them to parents.</a:t>
            </a:r>
          </a:p>
          <a:p>
            <a:r>
              <a:rPr lang="en-IN" dirty="0"/>
              <a:t>Use </a:t>
            </a:r>
            <a:r>
              <a:rPr lang="en-IN" b="1" dirty="0"/>
              <a:t>Azure Multiple</a:t>
            </a:r>
            <a:r>
              <a:rPr lang="en-IN" dirty="0"/>
              <a:t> option if you need to register multiple sources (Azure subscriptions or resource groups) on Azure cloud.</a:t>
            </a:r>
          </a:p>
          <a:p>
            <a:r>
              <a:rPr lang="en-IN" dirty="0"/>
              <a:t>Once a data source is registered, you may scan the same source multiple times, in case the same source is being used by different teams or business units differently</a:t>
            </a:r>
          </a:p>
          <a:p>
            <a:r>
              <a:rPr lang="en-IN" dirty="0"/>
              <a:t>Before creating any credentials, consider your data source types and networking requirements to decide which authentication method and integration runtime is needed for your scenario</a:t>
            </a:r>
            <a:endParaRPr lang="en-US" dirty="0"/>
          </a:p>
        </p:txBody>
      </p:sp>
    </p:spTree>
    <p:extLst>
      <p:ext uri="{BB962C8B-B14F-4D97-AF65-F5344CB8AC3E}">
        <p14:creationId xmlns:p14="http://schemas.microsoft.com/office/powerpoint/2010/main" val="3080353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F056E-FACE-C044-8037-87768558AB20}"/>
              </a:ext>
            </a:extLst>
          </p:cNvPr>
          <p:cNvSpPr>
            <a:spLocks noGrp="1"/>
          </p:cNvSpPr>
          <p:nvPr>
            <p:ph type="title"/>
          </p:nvPr>
        </p:nvSpPr>
        <p:spPr/>
        <p:txBody>
          <a:bodyPr/>
          <a:lstStyle/>
          <a:p>
            <a:r>
              <a:rPr lang="en-US" dirty="0"/>
              <a:t>Security Best Practices</a:t>
            </a:r>
          </a:p>
        </p:txBody>
      </p:sp>
      <p:sp>
        <p:nvSpPr>
          <p:cNvPr id="3" name="Content Placeholder 2">
            <a:extLst>
              <a:ext uri="{FF2B5EF4-FFF2-40B4-BE49-F238E27FC236}">
                <a16:creationId xmlns:a16="http://schemas.microsoft.com/office/drawing/2014/main" id="{356BBC91-0DA4-194E-9EDE-E018CF63FB11}"/>
              </a:ext>
            </a:extLst>
          </p:cNvPr>
          <p:cNvSpPr>
            <a:spLocks noGrp="1"/>
          </p:cNvSpPr>
          <p:nvPr>
            <p:ph idx="1"/>
          </p:nvPr>
        </p:nvSpPr>
        <p:spPr/>
        <p:txBody>
          <a:bodyPr/>
          <a:lstStyle/>
          <a:p>
            <a:r>
              <a:rPr lang="en-US" dirty="0"/>
              <a:t>Enable end-to-end network isolation using Private link service</a:t>
            </a:r>
          </a:p>
          <a:p>
            <a:r>
              <a:rPr lang="en-US" dirty="0"/>
              <a:t>Use Azure Purview firewall to disable public access</a:t>
            </a:r>
          </a:p>
          <a:p>
            <a:r>
              <a:rPr lang="en-IN" dirty="0"/>
              <a:t>Deploy network security group roles for subnets where Azure data sources private endpoints, Azure Purview private endpoints and self-hosted runtime VMs are deployed.</a:t>
            </a:r>
          </a:p>
          <a:p>
            <a:r>
              <a:rPr lang="en-IN" dirty="0"/>
              <a:t>Implement Azure Purview with private endpoints managed by a Network Virtual Appliance, such as Azure Firewall for network inspection and network filtering.</a:t>
            </a:r>
          </a:p>
          <a:p>
            <a:endParaRPr lang="en-IN" dirty="0"/>
          </a:p>
          <a:p>
            <a:endParaRPr lang="en-US" dirty="0"/>
          </a:p>
        </p:txBody>
      </p:sp>
    </p:spTree>
    <p:extLst>
      <p:ext uri="{BB962C8B-B14F-4D97-AF65-F5344CB8AC3E}">
        <p14:creationId xmlns:p14="http://schemas.microsoft.com/office/powerpoint/2010/main" val="3609528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12B01-5D12-EF42-91FF-F61CF2A4B562}"/>
              </a:ext>
            </a:extLst>
          </p:cNvPr>
          <p:cNvSpPr>
            <a:spLocks noGrp="1"/>
          </p:cNvSpPr>
          <p:nvPr>
            <p:ph type="title"/>
          </p:nvPr>
        </p:nvSpPr>
        <p:spPr/>
        <p:txBody>
          <a:bodyPr/>
          <a:lstStyle/>
          <a:p>
            <a:r>
              <a:rPr lang="en-US" dirty="0"/>
              <a:t>Glossary Best Practices</a:t>
            </a:r>
          </a:p>
        </p:txBody>
      </p:sp>
      <p:sp>
        <p:nvSpPr>
          <p:cNvPr id="3" name="Content Placeholder 2">
            <a:extLst>
              <a:ext uri="{FF2B5EF4-FFF2-40B4-BE49-F238E27FC236}">
                <a16:creationId xmlns:a16="http://schemas.microsoft.com/office/drawing/2014/main" id="{898195F9-405D-EF4D-9149-A2D4E5D94F41}"/>
              </a:ext>
            </a:extLst>
          </p:cNvPr>
          <p:cNvSpPr>
            <a:spLocks noGrp="1"/>
          </p:cNvSpPr>
          <p:nvPr>
            <p:ph idx="1"/>
          </p:nvPr>
        </p:nvSpPr>
        <p:spPr/>
        <p:txBody>
          <a:bodyPr>
            <a:normAutofit lnSpcReduction="10000"/>
          </a:bodyPr>
          <a:lstStyle/>
          <a:p>
            <a:r>
              <a:rPr lang="en-IN" dirty="0"/>
              <a:t>Establish a strict hierarchy for all business terms across your organization.</a:t>
            </a:r>
          </a:p>
          <a:p>
            <a:r>
              <a:rPr lang="en-IN" dirty="0"/>
              <a:t>The hierarchy could consist of a business domain such as: Finance, Marketing, Sales, HR, etc.</a:t>
            </a:r>
          </a:p>
          <a:p>
            <a:r>
              <a:rPr lang="en-IN" dirty="0"/>
              <a:t>Implement naming standards for all glossary terms that include case sensitivity. In Azure Purview terms are case-sensitive.</a:t>
            </a:r>
          </a:p>
          <a:p>
            <a:r>
              <a:rPr lang="en-IN" dirty="0"/>
              <a:t>Always use the provide search glossary terms feature before adding a new term. This will help you avoid adding duplicate terms to the glossary.</a:t>
            </a:r>
          </a:p>
          <a:p>
            <a:r>
              <a:rPr lang="en-IN" dirty="0"/>
              <a:t>Avoid deploying terms with duplicated names. In Azure Purview, terms with the same name can exist under different parent terms. This can lead to confusion and should be well thought out before building your business glossary to avoid duplicated terms.</a:t>
            </a:r>
          </a:p>
          <a:p>
            <a:pPr marL="0" indent="0">
              <a:buNone/>
            </a:pPr>
            <a:endParaRPr lang="en-US" dirty="0"/>
          </a:p>
        </p:txBody>
      </p:sp>
    </p:spTree>
    <p:extLst>
      <p:ext uri="{BB962C8B-B14F-4D97-AF65-F5344CB8AC3E}">
        <p14:creationId xmlns:p14="http://schemas.microsoft.com/office/powerpoint/2010/main" val="424566664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{C14DEB73-30CB-204F-99A9-32E4F56A31EF}tf10001072</Template>
  <TotalTime>65</TotalTime>
  <Words>612</Words>
  <Application>Microsoft Macintosh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Franklin Gothic Book</vt:lpstr>
      <vt:lpstr>Crop</vt:lpstr>
      <vt:lpstr>Azure Purview – Best Practices</vt:lpstr>
      <vt:lpstr>Why Best Practices?</vt:lpstr>
      <vt:lpstr>Classification Best Practices</vt:lpstr>
      <vt:lpstr>Lineage Best Practices</vt:lpstr>
      <vt:lpstr>Scanning Best Practices</vt:lpstr>
      <vt:lpstr>Security Best Practices</vt:lpstr>
      <vt:lpstr>Glossary Best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Azure Purview – Best Practices</dc:title>
  <dc:creator>Nagaraj, Arun Kumar</dc:creator>
  <cp:lastModifiedBy>Nagaraj, Arun Kumar</cp:lastModifiedBy>
  <cp:revision>4</cp:revision>
  <dcterms:created xsi:type="dcterms:W3CDTF">2021-12-26T12:16:16Z</dcterms:created>
  <dcterms:modified xsi:type="dcterms:W3CDTF">2021-12-26T13:37:31Z</dcterms:modified>
</cp:coreProperties>
</file>