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8" r:id="rId3"/>
    <p:sldId id="658" r:id="rId4"/>
    <p:sldId id="259" r:id="rId5"/>
    <p:sldId id="659" r:id="rId6"/>
    <p:sldId id="6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6327"/>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GB"/>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45E5452B-B7BF-DA45-8124-00E6F1EC7DC7}" type="datetimeFigureOut">
              <a:rPr lang="en-US" smtClean="0"/>
              <a:t>12/24/21</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B35FB940-D8C5-1C46-AE5F-2D1870B85051}"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400683223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E5452B-B7BF-DA45-8124-00E6F1EC7DC7}" type="datetimeFigureOut">
              <a:rPr lang="en-US" smtClean="0"/>
              <a:t>12/24/21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FB940-D8C5-1C46-AE5F-2D1870B85051}" type="slidenum">
              <a:rPr lang="en-US" smtClean="0"/>
              <a:t>‹#›</a:t>
            </a:fld>
            <a:endParaRPr lang="en-US"/>
          </a:p>
        </p:txBody>
      </p:sp>
    </p:spTree>
    <p:extLst>
      <p:ext uri="{BB962C8B-B14F-4D97-AF65-F5344CB8AC3E}">
        <p14:creationId xmlns:p14="http://schemas.microsoft.com/office/powerpoint/2010/main" val="2365552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45E5452B-B7BF-DA45-8124-00E6F1EC7DC7}" type="datetimeFigureOut">
              <a:rPr lang="en-US" smtClean="0"/>
              <a:t>12/24/21</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B35FB940-D8C5-1C46-AE5F-2D1870B85051}"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20817136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5E5452B-B7BF-DA45-8124-00E6F1EC7DC7}" type="datetimeFigureOut">
              <a:rPr lang="en-US" smtClean="0"/>
              <a:t>12/24/21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FB940-D8C5-1C46-AE5F-2D1870B85051}" type="slidenum">
              <a:rPr lang="en-US" smtClean="0"/>
              <a:t>‹#›</a:t>
            </a:fld>
            <a:endParaRPr lang="en-US"/>
          </a:p>
        </p:txBody>
      </p:sp>
    </p:spTree>
    <p:extLst>
      <p:ext uri="{BB962C8B-B14F-4D97-AF65-F5344CB8AC3E}">
        <p14:creationId xmlns:p14="http://schemas.microsoft.com/office/powerpoint/2010/main" val="1101365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5E5452B-B7BF-DA45-8124-00E6F1EC7DC7}" type="datetimeFigureOut">
              <a:rPr lang="en-US" smtClean="0"/>
              <a:t>12/24/21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5FB940-D8C5-1C46-AE5F-2D1870B85051}" type="slidenum">
              <a:rPr lang="en-US" smtClean="0"/>
              <a:t>‹#›</a:t>
            </a:fld>
            <a:endParaRPr lang="en-US"/>
          </a:p>
        </p:txBody>
      </p:sp>
    </p:spTree>
    <p:extLst>
      <p:ext uri="{BB962C8B-B14F-4D97-AF65-F5344CB8AC3E}">
        <p14:creationId xmlns:p14="http://schemas.microsoft.com/office/powerpoint/2010/main" val="54453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5E5452B-B7BF-DA45-8124-00E6F1EC7DC7}" type="datetimeFigureOut">
              <a:rPr lang="en-US" smtClean="0"/>
              <a:t>12/24/21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FB940-D8C5-1C46-AE5F-2D1870B85051}" type="slidenum">
              <a:rPr lang="en-US" smtClean="0"/>
              <a:t>‹#›</a:t>
            </a:fld>
            <a:endParaRPr lang="en-US"/>
          </a:p>
        </p:txBody>
      </p:sp>
    </p:spTree>
    <p:extLst>
      <p:ext uri="{BB962C8B-B14F-4D97-AF65-F5344CB8AC3E}">
        <p14:creationId xmlns:p14="http://schemas.microsoft.com/office/powerpoint/2010/main" val="1024145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E5452B-B7BF-DA45-8124-00E6F1EC7DC7}" type="datetimeFigureOut">
              <a:rPr lang="en-US" smtClean="0"/>
              <a:t>12/24/21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5FB940-D8C5-1C46-AE5F-2D1870B85051}" type="slidenum">
              <a:rPr lang="en-US" smtClean="0"/>
              <a:t>‹#›</a:t>
            </a:fld>
            <a:endParaRPr lang="en-US"/>
          </a:p>
        </p:txBody>
      </p:sp>
    </p:spTree>
    <p:extLst>
      <p:ext uri="{BB962C8B-B14F-4D97-AF65-F5344CB8AC3E}">
        <p14:creationId xmlns:p14="http://schemas.microsoft.com/office/powerpoint/2010/main" val="2979102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GB"/>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45E5452B-B7BF-DA45-8124-00E6F1EC7DC7}" type="datetimeFigureOut">
              <a:rPr lang="en-US" smtClean="0"/>
              <a:t>12/24/21</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35FB940-D8C5-1C46-AE5F-2D1870B85051}"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64605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45E5452B-B7BF-DA45-8124-00E6F1EC7DC7}" type="datetimeFigureOut">
              <a:rPr lang="en-US" smtClean="0"/>
              <a:t>12/24/21</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35FB940-D8C5-1C46-AE5F-2D1870B85051}"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76368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E5452B-B7BF-DA45-8124-00E6F1EC7DC7}" type="datetimeFigureOut">
              <a:rPr lang="en-US" smtClean="0"/>
              <a:t>12/24/21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FB940-D8C5-1C46-AE5F-2D1870B85051}" type="slidenum">
              <a:rPr lang="en-US" smtClean="0"/>
              <a:t>‹#›</a:t>
            </a:fld>
            <a:endParaRPr lang="en-US"/>
          </a:p>
        </p:txBody>
      </p:sp>
    </p:spTree>
    <p:extLst>
      <p:ext uri="{BB962C8B-B14F-4D97-AF65-F5344CB8AC3E}">
        <p14:creationId xmlns:p14="http://schemas.microsoft.com/office/powerpoint/2010/main" val="2716043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E5452B-B7BF-DA45-8124-00E6F1EC7DC7}" type="datetimeFigureOut">
              <a:rPr lang="en-US" smtClean="0"/>
              <a:t>12/24/21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FB940-D8C5-1C46-AE5F-2D1870B85051}" type="slidenum">
              <a:rPr lang="en-US" smtClean="0"/>
              <a:t>‹#›</a:t>
            </a:fld>
            <a:endParaRPr lang="en-US"/>
          </a:p>
        </p:txBody>
      </p:sp>
    </p:spTree>
    <p:extLst>
      <p:ext uri="{BB962C8B-B14F-4D97-AF65-F5344CB8AC3E}">
        <p14:creationId xmlns:p14="http://schemas.microsoft.com/office/powerpoint/2010/main" val="3588830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45E5452B-B7BF-DA45-8124-00E6F1EC7DC7}" type="datetimeFigureOut">
              <a:rPr lang="en-US" smtClean="0"/>
              <a:t>12/24/21</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B35FB940-D8C5-1C46-AE5F-2D1870B85051}"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507589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B205-22E6-0944-B6ED-5A8D5AC86BDB}"/>
              </a:ext>
            </a:extLst>
          </p:cNvPr>
          <p:cNvSpPr>
            <a:spLocks noGrp="1"/>
          </p:cNvSpPr>
          <p:nvPr>
            <p:ph type="ctrTitle"/>
          </p:nvPr>
        </p:nvSpPr>
        <p:spPr/>
        <p:txBody>
          <a:bodyPr/>
          <a:lstStyle/>
          <a:p>
            <a:r>
              <a:rPr lang="en-US" dirty="0"/>
              <a:t>Azure Purview </a:t>
            </a:r>
            <a:r>
              <a:rPr lang="en-US" dirty="0" err="1"/>
              <a:t>explortion</a:t>
            </a:r>
            <a:endParaRPr lang="en-US" dirty="0"/>
          </a:p>
        </p:txBody>
      </p:sp>
      <p:sp>
        <p:nvSpPr>
          <p:cNvPr id="3" name="Subtitle 2">
            <a:extLst>
              <a:ext uri="{FF2B5EF4-FFF2-40B4-BE49-F238E27FC236}">
                <a16:creationId xmlns:a16="http://schemas.microsoft.com/office/drawing/2014/main" id="{844D9758-C488-8A47-99CD-7D6FD4D2D12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37790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D868099-6145-4BC0-A5EA-74BEF1776B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8DC7E7-1852-EE4C-9893-83BF07288D99}"/>
              </a:ext>
            </a:extLst>
          </p:cNvPr>
          <p:cNvSpPr>
            <a:spLocks noGrp="1"/>
          </p:cNvSpPr>
          <p:nvPr>
            <p:ph type="title"/>
          </p:nvPr>
        </p:nvSpPr>
        <p:spPr>
          <a:xfrm>
            <a:off x="8471424" y="1110882"/>
            <a:ext cx="3053039" cy="1060817"/>
          </a:xfrm>
        </p:spPr>
        <p:txBody>
          <a:bodyPr anchor="b">
            <a:normAutofit fontScale="90000"/>
          </a:bodyPr>
          <a:lstStyle/>
          <a:p>
            <a:r>
              <a:rPr lang="en-US" sz="2800" dirty="0"/>
              <a:t>Other Data governance vs Purview</a:t>
            </a:r>
          </a:p>
        </p:txBody>
      </p:sp>
      <p:pic>
        <p:nvPicPr>
          <p:cNvPr id="4" name="Picture 2" descr="Lets revisit the generic information catalog functionality: &#10;Data Source crawling &#10;Data classification &#10;Schema detection &#10;Data Access Rule &#10;Business Glossary &#10;definition &#10;Data Access Rule &#10;Policy definition &#10;enforcement &#10;User/R01e Data &#10;Business rules &#10;Accesses &#10;Data profiling, eg technical Roles, eg ownership, &#10;data quality &#10;stewardship &#10;What Azure Purview brings to market, is far from all of the above. Instead Azure Purview &#10;focuses on the integration capabilites and to do that well. &#10;Data Source crawling &#10;Data classification &#10;Schema detection &#10;Business Glossary &#10;Roles, eg ownership, &#10;stewardship ">
            <a:extLst>
              <a:ext uri="{FF2B5EF4-FFF2-40B4-BE49-F238E27FC236}">
                <a16:creationId xmlns:a16="http://schemas.microsoft.com/office/drawing/2014/main" id="{57931E9B-7F14-E547-AD81-81AF4B2E257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4275" y="660223"/>
            <a:ext cx="6900380" cy="5537554"/>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7">
            <a:extLst>
              <a:ext uri="{FF2B5EF4-FFF2-40B4-BE49-F238E27FC236}">
                <a16:creationId xmlns:a16="http://schemas.microsoft.com/office/drawing/2014/main" id="{8350DC2A-764D-48C8-8987-4BF14207E3AD}"/>
              </a:ext>
            </a:extLst>
          </p:cNvPr>
          <p:cNvSpPr>
            <a:spLocks noGrp="1"/>
          </p:cNvSpPr>
          <p:nvPr>
            <p:ph idx="1"/>
          </p:nvPr>
        </p:nvSpPr>
        <p:spPr>
          <a:xfrm>
            <a:off x="8471423" y="2286000"/>
            <a:ext cx="3053039" cy="3931920"/>
          </a:xfrm>
        </p:spPr>
        <p:txBody>
          <a:bodyPr>
            <a:normAutofit/>
          </a:bodyPr>
          <a:lstStyle/>
          <a:p>
            <a:endParaRPr lang="en-US" sz="1600"/>
          </a:p>
        </p:txBody>
      </p:sp>
      <p:sp>
        <p:nvSpPr>
          <p:cNvPr id="13" name="Freeform 6">
            <a:extLst>
              <a:ext uri="{FF2B5EF4-FFF2-40B4-BE49-F238E27FC236}">
                <a16:creationId xmlns:a16="http://schemas.microsoft.com/office/drawing/2014/main" id="{CC1026F7-DECB-49B4-A565-518BBA4454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7983434" y="640080"/>
            <a:ext cx="2296028" cy="3674981"/>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017577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5A6DA5-05DA-6C48-B82C-D48C2C7597B9}"/>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31CA9E5D-F41A-8245-905F-9822D2F508D1}" type="slidenum">
              <a:rPr lang="en-US" smtClean="0"/>
              <a:pPr>
                <a:spcAft>
                  <a:spcPts val="600"/>
                </a:spcAft>
              </a:pPr>
              <a:t>3</a:t>
            </a:fld>
            <a:endParaRPr lang="en-US"/>
          </a:p>
        </p:txBody>
      </p:sp>
      <p:graphicFrame>
        <p:nvGraphicFramePr>
          <p:cNvPr id="9" name="Table 8">
            <a:extLst>
              <a:ext uri="{FF2B5EF4-FFF2-40B4-BE49-F238E27FC236}">
                <a16:creationId xmlns:a16="http://schemas.microsoft.com/office/drawing/2014/main" id="{650F5477-D600-7346-B704-AD893611E747}"/>
              </a:ext>
            </a:extLst>
          </p:cNvPr>
          <p:cNvGraphicFramePr>
            <a:graphicFrameLocks noGrp="1"/>
          </p:cNvGraphicFramePr>
          <p:nvPr/>
        </p:nvGraphicFramePr>
        <p:xfrm>
          <a:off x="643467" y="834215"/>
          <a:ext cx="10905068" cy="5205083"/>
        </p:xfrm>
        <a:graphic>
          <a:graphicData uri="http://schemas.openxmlformats.org/drawingml/2006/table">
            <a:tbl>
              <a:tblPr firstRow="1" bandRow="1">
                <a:solidFill>
                  <a:schemeClr val="tx1">
                    <a:lumMod val="65000"/>
                    <a:lumOff val="35000"/>
                  </a:schemeClr>
                </a:solidFill>
                <a:tableStyleId>{00A15C55-8517-42AA-B614-E9B94910E393}</a:tableStyleId>
              </a:tblPr>
              <a:tblGrid>
                <a:gridCol w="3965728">
                  <a:extLst>
                    <a:ext uri="{9D8B030D-6E8A-4147-A177-3AD203B41FA5}">
                      <a16:colId xmlns:a16="http://schemas.microsoft.com/office/drawing/2014/main" val="803034951"/>
                    </a:ext>
                  </a:extLst>
                </a:gridCol>
                <a:gridCol w="3800959">
                  <a:extLst>
                    <a:ext uri="{9D8B030D-6E8A-4147-A177-3AD203B41FA5}">
                      <a16:colId xmlns:a16="http://schemas.microsoft.com/office/drawing/2014/main" val="2752519727"/>
                    </a:ext>
                  </a:extLst>
                </a:gridCol>
                <a:gridCol w="3138381">
                  <a:extLst>
                    <a:ext uri="{9D8B030D-6E8A-4147-A177-3AD203B41FA5}">
                      <a16:colId xmlns:a16="http://schemas.microsoft.com/office/drawing/2014/main" val="1172329478"/>
                    </a:ext>
                  </a:extLst>
                </a:gridCol>
              </a:tblGrid>
              <a:tr h="545208">
                <a:tc gridSpan="3">
                  <a:txBody>
                    <a:bodyPr/>
                    <a:lstStyle/>
                    <a:p>
                      <a:r>
                        <a:rPr lang="en-US" sz="1300" b="1" cap="all" spc="60" dirty="0">
                          <a:solidFill>
                            <a:schemeClr val="tx1"/>
                          </a:solidFill>
                        </a:rPr>
                        <a:t>Ways to do Data Discovery</a:t>
                      </a:r>
                    </a:p>
                  </a:txBody>
                  <a:tcPr marL="151447" marR="151447" marT="151447" marB="151447" anchor="ctr" anchorCtr="1">
                    <a:lnL w="12700" cmpd="sng">
                      <a:noFill/>
                    </a:lnL>
                    <a:lnR w="12700" cmpd="sng">
                      <a:noFill/>
                    </a:lnR>
                    <a:lnT w="12700" cmpd="sng">
                      <a:noFill/>
                    </a:lnT>
                    <a:lnB w="38100" cmpd="sng">
                      <a:noFill/>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73093485"/>
                  </a:ext>
                </a:extLst>
              </a:tr>
              <a:tr h="3163551">
                <a:tc>
                  <a:txBody>
                    <a:bodyPr/>
                    <a:lstStyle/>
                    <a:p>
                      <a:pPr marL="342900" lvl="0" indent="-342900">
                        <a:buAutoNum type="arabicPeriod"/>
                      </a:pPr>
                      <a:r>
                        <a:rPr lang="en-IN" sz="1800" cap="none" spc="0" dirty="0">
                          <a:solidFill>
                            <a:schemeClr val="bg1"/>
                          </a:solidFill>
                        </a:rPr>
                        <a:t>Search based </a:t>
                      </a:r>
                    </a:p>
                    <a:p>
                      <a:pPr marL="342900" lvl="0" indent="-342900">
                        <a:buAutoNum type="arabicPeriod"/>
                      </a:pPr>
                      <a:endParaRPr lang="en-IN" sz="1800" cap="none" spc="0" dirty="0">
                        <a:solidFill>
                          <a:schemeClr val="bg1"/>
                        </a:solidFill>
                      </a:endParaRPr>
                    </a:p>
                    <a:p>
                      <a:pPr marL="0" indent="0">
                        <a:buNone/>
                      </a:pPr>
                      <a:r>
                        <a:rPr lang="en-IN" sz="1800" cap="none" spc="0" dirty="0">
                          <a:solidFill>
                            <a:schemeClr val="bg1"/>
                          </a:solidFill>
                        </a:rPr>
                        <a:t>I am looking for a table with data on “cancel rates” </a:t>
                      </a:r>
                    </a:p>
                    <a:p>
                      <a:pPr marL="0" indent="0">
                        <a:buNone/>
                      </a:pPr>
                      <a:endParaRPr lang="en-IN" sz="1800" cap="none" spc="0" dirty="0">
                        <a:solidFill>
                          <a:schemeClr val="bg1"/>
                        </a:solidFill>
                      </a:endParaRPr>
                    </a:p>
                    <a:p>
                      <a:pPr marL="171450" indent="-171450">
                        <a:buFont typeface="Arial" panose="020B0604020202020204" pitchFamily="34" charset="0"/>
                        <a:buChar char="•"/>
                      </a:pPr>
                      <a:r>
                        <a:rPr lang="en-IN" sz="1800" cap="none" spc="0" dirty="0">
                          <a:solidFill>
                            <a:schemeClr val="bg1"/>
                          </a:solidFill>
                        </a:rPr>
                        <a:t>Where is the table? </a:t>
                      </a:r>
                    </a:p>
                    <a:p>
                      <a:pPr marL="171450" indent="-171450">
                        <a:buFont typeface="Arial" panose="020B0604020202020204" pitchFamily="34" charset="0"/>
                        <a:buChar char="•"/>
                      </a:pPr>
                      <a:r>
                        <a:rPr lang="en-IN" sz="1800" cap="none" spc="0" dirty="0">
                          <a:solidFill>
                            <a:schemeClr val="bg1"/>
                          </a:solidFill>
                        </a:rPr>
                        <a:t>What does it contain? </a:t>
                      </a:r>
                    </a:p>
                    <a:p>
                      <a:pPr marL="171450" indent="-171450">
                        <a:buFont typeface="Arial" panose="020B0604020202020204" pitchFamily="34" charset="0"/>
                        <a:buChar char="•"/>
                      </a:pPr>
                      <a:r>
                        <a:rPr lang="en-IN" sz="1800" cap="none" spc="0" dirty="0">
                          <a:solidFill>
                            <a:schemeClr val="bg1"/>
                          </a:solidFill>
                        </a:rPr>
                        <a:t>Has the analysis I want to perform already been done? </a:t>
                      </a:r>
                    </a:p>
                    <a:p>
                      <a:endParaRPr lang="en-US" sz="1800" cap="none" spc="0" dirty="0">
                        <a:solidFill>
                          <a:schemeClr val="bg1"/>
                        </a:solidFill>
                      </a:endParaRPr>
                    </a:p>
                  </a:txBody>
                  <a:tcPr marL="121157" marR="121157" marT="60579" marB="100964">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a:txBody>
                    <a:bodyPr/>
                    <a:lstStyle/>
                    <a:p>
                      <a:pPr marL="0" lvl="0" indent="0">
                        <a:buNone/>
                      </a:pPr>
                      <a:r>
                        <a:rPr lang="en-IN" sz="1800" cap="none" spc="0">
                          <a:solidFill>
                            <a:schemeClr val="bg1"/>
                          </a:solidFill>
                        </a:rPr>
                        <a:t>2. Lineage based</a:t>
                      </a:r>
                    </a:p>
                    <a:p>
                      <a:pPr marL="0" lvl="0" indent="0">
                        <a:buNone/>
                      </a:pPr>
                      <a:r>
                        <a:rPr lang="en-IN" sz="1800" cap="none" spc="0">
                          <a:solidFill>
                            <a:schemeClr val="bg1"/>
                          </a:solidFill>
                        </a:rPr>
                        <a:t> </a:t>
                      </a:r>
                    </a:p>
                    <a:p>
                      <a:pPr marL="0" indent="0">
                        <a:buNone/>
                      </a:pPr>
                      <a:r>
                        <a:rPr lang="en-IN" sz="1800" cap="none" spc="0">
                          <a:solidFill>
                            <a:schemeClr val="bg1"/>
                          </a:solidFill>
                        </a:rPr>
                        <a:t>If this event is down, </a:t>
                      </a:r>
                    </a:p>
                    <a:p>
                      <a:pPr marL="0" indent="0">
                        <a:buNone/>
                      </a:pPr>
                      <a:endParaRPr lang="en-IN" sz="1800" cap="none" spc="0">
                        <a:solidFill>
                          <a:schemeClr val="bg1"/>
                        </a:solidFill>
                      </a:endParaRPr>
                    </a:p>
                    <a:p>
                      <a:pPr marL="0" indent="0">
                        <a:buNone/>
                      </a:pPr>
                      <a:endParaRPr lang="en-IN" sz="1800" cap="none" spc="0">
                        <a:solidFill>
                          <a:schemeClr val="bg1"/>
                        </a:solidFill>
                      </a:endParaRPr>
                    </a:p>
                    <a:p>
                      <a:pPr marL="285750" indent="-285750">
                        <a:buFont typeface="Arial" panose="020B0604020202020204" pitchFamily="34" charset="0"/>
                        <a:buChar char="•"/>
                      </a:pPr>
                      <a:r>
                        <a:rPr lang="en-IN" sz="1800" cap="none" spc="0">
                          <a:solidFill>
                            <a:schemeClr val="bg1"/>
                          </a:solidFill>
                        </a:rPr>
                        <a:t>what datasets are going to be impacted? </a:t>
                      </a:r>
                    </a:p>
                    <a:p>
                      <a:pPr marL="285750" indent="-285750">
                        <a:buFont typeface="Arial" panose="020B0604020202020204" pitchFamily="34" charset="0"/>
                        <a:buChar char="•"/>
                      </a:pPr>
                      <a:r>
                        <a:rPr lang="en-IN" sz="1800" cap="none" spc="0">
                          <a:solidFill>
                            <a:schemeClr val="bg1"/>
                          </a:solidFill>
                        </a:rPr>
                        <a:t>Upstream/downstream lineage </a:t>
                      </a:r>
                    </a:p>
                    <a:p>
                      <a:pPr marL="285750" indent="-285750">
                        <a:buFont typeface="Arial" panose="020B0604020202020204" pitchFamily="34" charset="0"/>
                        <a:buChar char="•"/>
                      </a:pPr>
                      <a:r>
                        <a:rPr lang="en-IN" sz="1800" cap="none" spc="0">
                          <a:solidFill>
                            <a:schemeClr val="bg1"/>
                          </a:solidFill>
                        </a:rPr>
                        <a:t>Incidents, SLA misses, Data quality </a:t>
                      </a:r>
                    </a:p>
                    <a:p>
                      <a:endParaRPr lang="en-US" sz="1800" cap="none" spc="0">
                        <a:solidFill>
                          <a:schemeClr val="bg1"/>
                        </a:solidFill>
                      </a:endParaRPr>
                    </a:p>
                  </a:txBody>
                  <a:tcPr marL="121157" marR="121157" marT="60579" marB="100964">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a:txBody>
                    <a:bodyPr/>
                    <a:lstStyle/>
                    <a:p>
                      <a:pPr marL="0" lvl="0" indent="0">
                        <a:buNone/>
                      </a:pPr>
                      <a:r>
                        <a:rPr lang="en-IN" sz="1800" cap="none" spc="0">
                          <a:solidFill>
                            <a:schemeClr val="bg1"/>
                          </a:solidFill>
                        </a:rPr>
                        <a:t>3. Network based </a:t>
                      </a:r>
                    </a:p>
                    <a:p>
                      <a:pPr marL="0" lvl="0" indent="0">
                        <a:buNone/>
                      </a:pPr>
                      <a:endParaRPr lang="en-IN" sz="1800" cap="none" spc="0">
                        <a:solidFill>
                          <a:schemeClr val="bg1"/>
                        </a:solidFill>
                      </a:endParaRPr>
                    </a:p>
                    <a:p>
                      <a:pPr marL="0" indent="0">
                        <a:buNone/>
                      </a:pPr>
                      <a:r>
                        <a:rPr lang="en-IN" sz="1800" cap="none" spc="0">
                          <a:solidFill>
                            <a:schemeClr val="bg1"/>
                          </a:solidFill>
                        </a:rPr>
                        <a:t>I want to check what tables manager uses</a:t>
                      </a:r>
                    </a:p>
                    <a:p>
                      <a:pPr marL="0" indent="0">
                        <a:buNone/>
                      </a:pPr>
                      <a:endParaRPr lang="en-IN" sz="1800" cap="none" spc="0">
                        <a:solidFill>
                          <a:schemeClr val="bg1"/>
                        </a:solidFill>
                      </a:endParaRPr>
                    </a:p>
                    <a:p>
                      <a:pPr marL="171450" indent="-171450">
                        <a:buFont typeface="Arial" panose="020B0604020202020204" pitchFamily="34" charset="0"/>
                        <a:buChar char="•"/>
                      </a:pPr>
                      <a:r>
                        <a:rPr lang="en-IN" sz="1800" cap="none" spc="0">
                          <a:solidFill>
                            <a:schemeClr val="bg1"/>
                          </a:solidFill>
                        </a:rPr>
                        <a:t>Ownership information </a:t>
                      </a:r>
                    </a:p>
                    <a:p>
                      <a:pPr marL="171450" indent="-171450">
                        <a:buFont typeface="Arial" panose="020B0604020202020204" pitchFamily="34" charset="0"/>
                        <a:buChar char="•"/>
                      </a:pPr>
                      <a:r>
                        <a:rPr lang="en-IN" sz="1800" cap="none" spc="0">
                          <a:solidFill>
                            <a:schemeClr val="bg1"/>
                          </a:solidFill>
                        </a:rPr>
                        <a:t>Bookmarking </a:t>
                      </a:r>
                    </a:p>
                    <a:p>
                      <a:pPr marL="171450" indent="-171450">
                        <a:buFont typeface="Arial" panose="020B0604020202020204" pitchFamily="34" charset="0"/>
                        <a:buChar char="•"/>
                      </a:pPr>
                      <a:r>
                        <a:rPr lang="en-IN" sz="1800" cap="none" spc="0">
                          <a:solidFill>
                            <a:schemeClr val="bg1"/>
                          </a:solidFill>
                        </a:rPr>
                        <a:t>Usage through query logs</a:t>
                      </a:r>
                    </a:p>
                    <a:p>
                      <a:endParaRPr lang="en-IN" sz="1800" cap="none" spc="0">
                        <a:solidFill>
                          <a:schemeClr val="bg1"/>
                        </a:solidFill>
                      </a:endParaRPr>
                    </a:p>
                  </a:txBody>
                  <a:tcPr marL="121157" marR="121157" marT="60579" marB="100964">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extLst>
                  <a:ext uri="{0D108BD9-81ED-4DB2-BD59-A6C34878D82A}">
                    <a16:rowId xmlns:a16="http://schemas.microsoft.com/office/drawing/2014/main" val="3179929313"/>
                  </a:ext>
                </a:extLst>
              </a:tr>
              <a:tr h="471168">
                <a:tc gridSpan="3">
                  <a:txBody>
                    <a:bodyPr/>
                    <a:lstStyle/>
                    <a:p>
                      <a:pPr marL="0" algn="l" defTabSz="761985" rtl="0" eaLnBrk="1" latinLnBrk="0" hangingPunct="1"/>
                      <a:r>
                        <a:rPr lang="en-US" sz="1800" b="1" kern="1200" cap="none" spc="0" dirty="0">
                          <a:solidFill>
                            <a:schemeClr val="bg1"/>
                          </a:solidFill>
                          <a:latin typeface="+mn-lt"/>
                          <a:ea typeface="+mn-ea"/>
                          <a:cs typeface="+mn-cs"/>
                        </a:rPr>
                        <a:t>Data Discovery for All Users</a:t>
                      </a:r>
                    </a:p>
                  </a:txBody>
                  <a:tcPr marL="121157" marR="121157" marT="60579" marB="100964" anchor="ctr" anchorCtr="1">
                    <a:lnL w="12700" cmpd="sng">
                      <a:noFill/>
                      <a:prstDash val="solid"/>
                    </a:lnL>
                    <a:lnR w="12700" cmpd="sng">
                      <a:noFill/>
                      <a:prstDash val="solid"/>
                    </a:lnR>
                    <a:lnT w="12700" cmpd="sng">
                      <a:noFill/>
                      <a:prstDash val="solid"/>
                    </a:lnT>
                    <a:lnB w="12700" cmpd="sng">
                      <a:noFill/>
                      <a:prstDash val="solid"/>
                    </a:lnB>
                    <a:solidFill>
                      <a:srgbClr val="26262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95402005"/>
                  </a:ext>
                </a:extLst>
              </a:tr>
              <a:tr h="1009644">
                <a:tc gridSpan="3">
                  <a:txBody>
                    <a:bodyPr/>
                    <a:lstStyle/>
                    <a:p>
                      <a:endParaRPr lang="en-US" sz="1800" cap="none" spc="0" dirty="0">
                        <a:solidFill>
                          <a:schemeClr val="bg1"/>
                        </a:solidFill>
                      </a:endParaRPr>
                    </a:p>
                    <a:p>
                      <a:pPr marL="1314427" lvl="3" indent="-171450">
                        <a:buFont typeface="Arial" panose="020B0604020202020204" pitchFamily="34" charset="0"/>
                        <a:buChar char="•"/>
                      </a:pPr>
                      <a:r>
                        <a:rPr lang="en-US" sz="1800" cap="none" spc="0" dirty="0">
                          <a:solidFill>
                            <a:schemeClr val="bg1"/>
                          </a:solidFill>
                        </a:rPr>
                        <a:t>New Users : Need to know Where to start ?</a:t>
                      </a:r>
                    </a:p>
                    <a:p>
                      <a:pPr marL="1314427" lvl="3" indent="-171450">
                        <a:buFont typeface="Arial" panose="020B0604020202020204" pitchFamily="34" charset="0"/>
                        <a:buChar char="•"/>
                      </a:pPr>
                      <a:r>
                        <a:rPr lang="en-US" sz="1800" cap="none" spc="0" dirty="0">
                          <a:solidFill>
                            <a:schemeClr val="bg1"/>
                          </a:solidFill>
                        </a:rPr>
                        <a:t>Power Users : Share knowledge with the Organization</a:t>
                      </a:r>
                    </a:p>
                  </a:txBody>
                  <a:tcPr marL="121157" marR="121157" marT="60579" marB="100964">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6889812"/>
                  </a:ext>
                </a:extLst>
              </a:tr>
            </a:tbl>
          </a:graphicData>
        </a:graphic>
      </p:graphicFrame>
    </p:spTree>
    <p:extLst>
      <p:ext uri="{BB962C8B-B14F-4D97-AF65-F5344CB8AC3E}">
        <p14:creationId xmlns:p14="http://schemas.microsoft.com/office/powerpoint/2010/main" val="2229783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EF27E-D570-AE47-8D9C-800684B57477}"/>
              </a:ext>
            </a:extLst>
          </p:cNvPr>
          <p:cNvSpPr>
            <a:spLocks noGrp="1"/>
          </p:cNvSpPr>
          <p:nvPr>
            <p:ph type="title"/>
          </p:nvPr>
        </p:nvSpPr>
        <p:spPr/>
        <p:txBody>
          <a:bodyPr/>
          <a:lstStyle/>
          <a:p>
            <a:r>
              <a:rPr lang="en-US" dirty="0"/>
              <a:t>Data Discovery Challenges:</a:t>
            </a:r>
          </a:p>
        </p:txBody>
      </p:sp>
      <p:sp>
        <p:nvSpPr>
          <p:cNvPr id="3" name="Content Placeholder 2">
            <a:extLst>
              <a:ext uri="{FF2B5EF4-FFF2-40B4-BE49-F238E27FC236}">
                <a16:creationId xmlns:a16="http://schemas.microsoft.com/office/drawing/2014/main" id="{10AF75C2-F624-8A48-8F7D-B24E0965746D}"/>
              </a:ext>
            </a:extLst>
          </p:cNvPr>
          <p:cNvSpPr>
            <a:spLocks noGrp="1"/>
          </p:cNvSpPr>
          <p:nvPr>
            <p:ph idx="1"/>
          </p:nvPr>
        </p:nvSpPr>
        <p:spPr/>
        <p:txBody>
          <a:bodyPr>
            <a:normAutofit fontScale="70000" lnSpcReduction="20000"/>
          </a:bodyPr>
          <a:lstStyle/>
          <a:p>
            <a:r>
              <a:rPr lang="en-IN" b="1" dirty="0"/>
              <a:t>Discovery challenges for data consumers</a:t>
            </a:r>
          </a:p>
          <a:p>
            <a:r>
              <a:rPr lang="en-IN" dirty="0"/>
              <a:t>Traditionally, discovering enterprise data sources has been an organic process based on communal knowledge. For companies that want the most value from their information assets, this approach presents many challenges:</a:t>
            </a:r>
          </a:p>
          <a:p>
            <a:r>
              <a:rPr lang="en-IN" dirty="0"/>
              <a:t>Because there's no central location to register data sources, users might be unaware of a data source unless they come into contact with it as part of another process.</a:t>
            </a:r>
          </a:p>
          <a:p>
            <a:r>
              <a:rPr lang="en-IN" dirty="0"/>
              <a:t>Unless users know the location of a data source, they can't connect to the data by using a client application. Data-consumption experiences require users to know the connection string or path.</a:t>
            </a:r>
          </a:p>
          <a:p>
            <a:r>
              <a:rPr lang="en-IN" dirty="0"/>
              <a:t>The intended use of the data is hidden to users unless they know the location of a data source's documentation. Data sources and documentation might live in several places and be consumed through different kinds of experiences.</a:t>
            </a:r>
          </a:p>
          <a:p>
            <a:r>
              <a:rPr lang="en-IN" dirty="0"/>
              <a:t>If users have questions about an information asset, they must locate the expert or team that's responsible for the data and engage them offline. There's no explicit connection between data and the experts that have perspectives on its use.</a:t>
            </a:r>
          </a:p>
          <a:p>
            <a:r>
              <a:rPr lang="en-IN" dirty="0"/>
              <a:t>Unless users understand the process for requesting access to the data source, discovering the data source and its documentation won't help them access the data.</a:t>
            </a:r>
          </a:p>
          <a:p>
            <a:endParaRPr lang="en-US" dirty="0"/>
          </a:p>
        </p:txBody>
      </p:sp>
    </p:spTree>
    <p:extLst>
      <p:ext uri="{BB962C8B-B14F-4D97-AF65-F5344CB8AC3E}">
        <p14:creationId xmlns:p14="http://schemas.microsoft.com/office/powerpoint/2010/main" val="2547887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B9CBD-F3BA-1948-B473-0AE1943341B3}"/>
              </a:ext>
            </a:extLst>
          </p:cNvPr>
          <p:cNvSpPr>
            <a:spLocks noGrp="1"/>
          </p:cNvSpPr>
          <p:nvPr>
            <p:ph type="title"/>
          </p:nvPr>
        </p:nvSpPr>
        <p:spPr/>
        <p:txBody>
          <a:bodyPr/>
          <a:lstStyle/>
          <a:p>
            <a:r>
              <a:rPr lang="en-US" dirty="0"/>
              <a:t>Data Discovery Challenges</a:t>
            </a:r>
          </a:p>
        </p:txBody>
      </p:sp>
      <p:sp>
        <p:nvSpPr>
          <p:cNvPr id="3" name="Content Placeholder 2">
            <a:extLst>
              <a:ext uri="{FF2B5EF4-FFF2-40B4-BE49-F238E27FC236}">
                <a16:creationId xmlns:a16="http://schemas.microsoft.com/office/drawing/2014/main" id="{60A96437-6FF9-6A42-95C2-DAF381449862}"/>
              </a:ext>
            </a:extLst>
          </p:cNvPr>
          <p:cNvSpPr>
            <a:spLocks noGrp="1"/>
          </p:cNvSpPr>
          <p:nvPr>
            <p:ph idx="1"/>
          </p:nvPr>
        </p:nvSpPr>
        <p:spPr/>
        <p:txBody>
          <a:bodyPr>
            <a:normAutofit fontScale="77500" lnSpcReduction="20000"/>
          </a:bodyPr>
          <a:lstStyle/>
          <a:p>
            <a:r>
              <a:rPr lang="en-IN" b="1" dirty="0"/>
              <a:t>Discovery challenges for data producers</a:t>
            </a:r>
          </a:p>
          <a:p>
            <a:r>
              <a:rPr lang="en-IN" dirty="0"/>
              <a:t>Although data consumers face the previously mentioned challenges, users who are responsible for producing and maintaining information assets face challenges of their own:</a:t>
            </a:r>
          </a:p>
          <a:p>
            <a:r>
              <a:rPr lang="en-IN" dirty="0"/>
              <a:t>Annotating data sources with descriptive metadata is often a lost effort. Client applications typically ignore descriptions that are stored in the data source.</a:t>
            </a:r>
          </a:p>
          <a:p>
            <a:r>
              <a:rPr lang="en-IN" dirty="0"/>
              <a:t>Creating documentation for data sources can be difficult and it's an ongoing responsibility to keep documentation in sync with data sources. Users might not trust documentation that's perceived as being out of date.</a:t>
            </a:r>
          </a:p>
          <a:p>
            <a:r>
              <a:rPr lang="en-IN" dirty="0"/>
              <a:t>Creating and maintaining documentation for data sources is complex and time-consuming. Making that documentation readily available to everyone who uses the data source can be even more so.</a:t>
            </a:r>
          </a:p>
          <a:p>
            <a:r>
              <a:rPr lang="en-IN" dirty="0"/>
              <a:t>Restricting access to data sources and ensuring that data consumers know how to request access is an ongoing challenge.</a:t>
            </a:r>
          </a:p>
          <a:p>
            <a:r>
              <a:rPr lang="en-IN" dirty="0"/>
              <a:t>When such challenges are combined, they present a significant barrier for companies that want to encourage and promote the use and understanding of enterprise data.</a:t>
            </a:r>
          </a:p>
          <a:p>
            <a:endParaRPr lang="en-US" dirty="0"/>
          </a:p>
        </p:txBody>
      </p:sp>
    </p:spTree>
    <p:extLst>
      <p:ext uri="{BB962C8B-B14F-4D97-AF65-F5344CB8AC3E}">
        <p14:creationId xmlns:p14="http://schemas.microsoft.com/office/powerpoint/2010/main" val="459366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C50B4-BB25-6D42-9903-15F46124FABD}"/>
              </a:ext>
            </a:extLst>
          </p:cNvPr>
          <p:cNvSpPr>
            <a:spLocks noGrp="1"/>
          </p:cNvSpPr>
          <p:nvPr>
            <p:ph type="title"/>
          </p:nvPr>
        </p:nvSpPr>
        <p:spPr/>
        <p:txBody>
          <a:bodyPr/>
          <a:lstStyle/>
          <a:p>
            <a:r>
              <a:rPr lang="en-US" dirty="0"/>
              <a:t>Purview Advantages:</a:t>
            </a:r>
          </a:p>
        </p:txBody>
      </p:sp>
      <p:sp>
        <p:nvSpPr>
          <p:cNvPr id="3" name="Content Placeholder 2">
            <a:extLst>
              <a:ext uri="{FF2B5EF4-FFF2-40B4-BE49-F238E27FC236}">
                <a16:creationId xmlns:a16="http://schemas.microsoft.com/office/drawing/2014/main" id="{07AE797A-356A-4943-A256-BE48ECC15F53}"/>
              </a:ext>
            </a:extLst>
          </p:cNvPr>
          <p:cNvSpPr>
            <a:spLocks noGrp="1"/>
          </p:cNvSpPr>
          <p:nvPr>
            <p:ph idx="1"/>
          </p:nvPr>
        </p:nvSpPr>
        <p:spPr/>
        <p:txBody>
          <a:bodyPr/>
          <a:lstStyle/>
          <a:p>
            <a:r>
              <a:rPr lang="en-IN" dirty="0"/>
              <a:t>Azure Purview is designed to address the issues mentioned in the previous sections and to help enterprises get the most value from their existing information assets. The </a:t>
            </a:r>
            <a:r>
              <a:rPr lang="en-IN" dirty="0" err="1"/>
              <a:t>catalog</a:t>
            </a:r>
            <a:r>
              <a:rPr lang="en-IN" dirty="0"/>
              <a:t> makes data sources easily discoverable and understandable by the users who manage the data.</a:t>
            </a:r>
            <a:br>
              <a:rPr lang="en-IN" dirty="0"/>
            </a:br>
            <a:endParaRPr lang="en-US" dirty="0"/>
          </a:p>
        </p:txBody>
      </p:sp>
    </p:spTree>
    <p:extLst>
      <p:ext uri="{BB962C8B-B14F-4D97-AF65-F5344CB8AC3E}">
        <p14:creationId xmlns:p14="http://schemas.microsoft.com/office/powerpoint/2010/main" val="4106042372"/>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{C14DEB73-30CB-204F-99A9-32E4F56A31EF}tf10001072</Template>
  <TotalTime>530</TotalTime>
  <Words>556</Words>
  <Application>Microsoft Macintosh PowerPoint</Application>
  <PresentationFormat>Widescreen</PresentationFormat>
  <Paragraphs>48</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Franklin Gothic Book</vt:lpstr>
      <vt:lpstr>Crop</vt:lpstr>
      <vt:lpstr>Azure Purview explortion</vt:lpstr>
      <vt:lpstr>Other Data governance vs Purview</vt:lpstr>
      <vt:lpstr>PowerPoint Presentation</vt:lpstr>
      <vt:lpstr>Data Discovery Challenges:</vt:lpstr>
      <vt:lpstr>Data Discovery Challenges</vt:lpstr>
      <vt:lpstr>Purview Advantages: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Purview explortion</dc:title>
  <dc:creator>Nagaraj, Arun Kumar</dc:creator>
  <cp:lastModifiedBy>Nagaraj, Arun Kumar</cp:lastModifiedBy>
  <cp:revision>1</cp:revision>
  <dcterms:created xsi:type="dcterms:W3CDTF">2021-12-24T06:14:42Z</dcterms:created>
  <dcterms:modified xsi:type="dcterms:W3CDTF">2021-12-24T15:04:51Z</dcterms:modified>
</cp:coreProperties>
</file>