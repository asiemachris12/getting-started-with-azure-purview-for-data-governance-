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42"/>
    <p:restoredTop sz="97155"/>
  </p:normalViewPr>
  <p:slideViewPr>
    <p:cSldViewPr snapToGrid="0" snapToObjects="1">
      <p:cViewPr varScale="1">
        <p:scale>
          <a:sx n="124" d="100"/>
          <a:sy n="124" d="100"/>
        </p:scale>
        <p:origin x="200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AF039DF-7207-0D44-853C-778CE3D35371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7CDB993-53D1-6C4A-8CF2-050BBC552580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12402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39DF-7207-0D44-853C-778CE3D35371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B993-53D1-6C4A-8CF2-050BBC552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9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F039DF-7207-0D44-853C-778CE3D35371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CDB993-53D1-6C4A-8CF2-050BBC55258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235426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39DF-7207-0D44-853C-778CE3D35371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B993-53D1-6C4A-8CF2-050BBC552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26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39DF-7207-0D44-853C-778CE3D35371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B993-53D1-6C4A-8CF2-050BBC552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03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39DF-7207-0D44-853C-778CE3D35371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B993-53D1-6C4A-8CF2-050BBC552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91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39DF-7207-0D44-853C-778CE3D35371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B993-53D1-6C4A-8CF2-050BBC552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16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F039DF-7207-0D44-853C-778CE3D35371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CDB993-53D1-6C4A-8CF2-050BBC55258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75214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F039DF-7207-0D44-853C-778CE3D35371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CDB993-53D1-6C4A-8CF2-050BBC55258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5892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39DF-7207-0D44-853C-778CE3D35371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B993-53D1-6C4A-8CF2-050BBC552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2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39DF-7207-0D44-853C-778CE3D35371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B993-53D1-6C4A-8CF2-050BBC552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5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AF039DF-7207-0D44-853C-778CE3D35371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7CDB993-53D1-6C4A-8CF2-050BBC55258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7820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azure/purview/concept-elastic-data-ma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48C2-B7C8-DA44-BDC4-D10A2747A6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Azure Purview - Limitations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6B6EC-D102-4E4E-9860-B25263DB8A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86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88911C-0EC7-40A9-9BCB-CA8A66E46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023EA8-527A-4FA2-A71D-626F91275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60C46CD6-ADBB-41BC-8969-7C707D433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B6C38415-998B-45FB-A12C-BD0B184CB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8D89F71-9459-4318-ACAE-874616C3A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0462" y="968188"/>
            <a:ext cx="10194046" cy="4894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FFA6495-ED4B-264E-8BFC-0978156EB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984648"/>
              </p:ext>
            </p:extLst>
          </p:nvPr>
        </p:nvGraphicFramePr>
        <p:xfrm>
          <a:off x="1367529" y="1289918"/>
          <a:ext cx="9459911" cy="4242855"/>
        </p:xfrm>
        <a:graphic>
          <a:graphicData uri="http://schemas.openxmlformats.org/drawingml/2006/table">
            <a:tbl>
              <a:tblPr firstRow="1" bandRow="1"/>
              <a:tblGrid>
                <a:gridCol w="3212352">
                  <a:extLst>
                    <a:ext uri="{9D8B030D-6E8A-4147-A177-3AD203B41FA5}">
                      <a16:colId xmlns:a16="http://schemas.microsoft.com/office/drawing/2014/main" val="1333503608"/>
                    </a:ext>
                  </a:extLst>
                </a:gridCol>
                <a:gridCol w="3235209">
                  <a:extLst>
                    <a:ext uri="{9D8B030D-6E8A-4147-A177-3AD203B41FA5}">
                      <a16:colId xmlns:a16="http://schemas.microsoft.com/office/drawing/2014/main" val="3877570893"/>
                    </a:ext>
                  </a:extLst>
                </a:gridCol>
                <a:gridCol w="3012350">
                  <a:extLst>
                    <a:ext uri="{9D8B030D-6E8A-4147-A177-3AD203B41FA5}">
                      <a16:colId xmlns:a16="http://schemas.microsoft.com/office/drawing/2014/main" val="2960163572"/>
                    </a:ext>
                  </a:extLst>
                </a:gridCol>
              </a:tblGrid>
              <a:tr h="899771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Purview accounts per region, per tenant (all subscriptions combined)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3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Contact Support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056543"/>
                  </a:ext>
                </a:extLst>
              </a:tr>
              <a:tr h="643770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vCores available for scanning, per account*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160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160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021883"/>
                  </a:ext>
                </a:extLst>
              </a:tr>
              <a:tr h="1155773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Concurrent scans, per account at a given point. The limit is based on the type of data sources scanned*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5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10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609054"/>
                  </a:ext>
                </a:extLst>
              </a:tr>
              <a:tr h="643770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Maximum time that a scan can run for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7 days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7 days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666235"/>
                  </a:ext>
                </a:extLst>
              </a:tr>
              <a:tr h="899771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 u="none" strike="noStrike">
                          <a:effectLst/>
                          <a:hlinkClick r:id="rId2"/>
                        </a:rPr>
                        <a:t>Data Map Capacity unit (CU)</a:t>
                      </a:r>
                      <a:endParaRPr lang="en-IN" sz="1700">
                        <a:effectLst/>
                      </a:endParaRP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1 CU (25 Operations/second throughput and 2 GB metadata storage)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A4A4A4"/>
                          </a:solidFill>
                          <a:effectLst/>
                        </a:rPr>
                        <a:t>100 CU (Contact Support for higher CU)</a:t>
                      </a:r>
                    </a:p>
                  </a:txBody>
                  <a:tcPr marL="87880" marR="87880" marT="43940" marB="439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06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84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8911C-0EC7-40A9-9BCB-CA8A66E46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023EA8-527A-4FA2-A71D-626F91275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0C46CD6-ADBB-41BC-8969-7C707D433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6C38415-998B-45FB-A12C-BD0B184CB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C8D89F71-9459-4318-ACAE-874616C3A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0462" y="968188"/>
            <a:ext cx="10194046" cy="4894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CF5AD0-BD7B-2C47-A883-E608B45AAD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250345"/>
              </p:ext>
            </p:extLst>
          </p:nvPr>
        </p:nvGraphicFramePr>
        <p:xfrm>
          <a:off x="1322194" y="1643532"/>
          <a:ext cx="9550583" cy="3535627"/>
        </p:xfrm>
        <a:graphic>
          <a:graphicData uri="http://schemas.openxmlformats.org/drawingml/2006/table">
            <a:tbl>
              <a:tblPr/>
              <a:tblGrid>
                <a:gridCol w="3142962">
                  <a:extLst>
                    <a:ext uri="{9D8B030D-6E8A-4147-A177-3AD203B41FA5}">
                      <a16:colId xmlns:a16="http://schemas.microsoft.com/office/drawing/2014/main" val="2431343714"/>
                    </a:ext>
                  </a:extLst>
                </a:gridCol>
                <a:gridCol w="3219023">
                  <a:extLst>
                    <a:ext uri="{9D8B030D-6E8A-4147-A177-3AD203B41FA5}">
                      <a16:colId xmlns:a16="http://schemas.microsoft.com/office/drawing/2014/main" val="1636278324"/>
                    </a:ext>
                  </a:extLst>
                </a:gridCol>
                <a:gridCol w="3188598">
                  <a:extLst>
                    <a:ext uri="{9D8B030D-6E8A-4147-A177-3AD203B41FA5}">
                      <a16:colId xmlns:a16="http://schemas.microsoft.com/office/drawing/2014/main" val="2515914361"/>
                    </a:ext>
                  </a:extLst>
                </a:gridCol>
              </a:tblGrid>
              <a:tr h="855128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Data Map Operations throughput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25 Operations/second for each Capacity Unit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2,500 Operations/Sec for 100 CU (Contact Support for more throughput)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585761"/>
                  </a:ext>
                </a:extLst>
              </a:tr>
              <a:tr h="608457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Data Map Storage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2 GB for each Capacity Unit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200 GB for for 100 CU (Contact Support for more storage)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196384"/>
                  </a:ext>
                </a:extLst>
              </a:tr>
              <a:tr h="110180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Data Map elasticity window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1 - 8 CU (Data Map can auto scale up/down based on throughput within elasticity window)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Contact support to get higher elasticity window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130319"/>
                  </a:ext>
                </a:extLst>
              </a:tr>
              <a:tr h="361785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Size of assets per account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100M physical assets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Contact Support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682231"/>
                  </a:ext>
                </a:extLst>
              </a:tr>
              <a:tr h="608457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Maximum size of an asset in a catalog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2 MB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dirty="0">
                          <a:solidFill>
                            <a:srgbClr val="A4A4A4"/>
                          </a:solidFill>
                          <a:effectLst/>
                          <a:latin typeface="Arial" panose="020B0604020202020204" pitchFamily="34" charset="0"/>
                        </a:rPr>
                        <a:t>2 MB</a:t>
                      </a:r>
                    </a:p>
                  </a:txBody>
                  <a:tcPr marL="82224" marR="82224" marT="41112" marB="41112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531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69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8911C-0EC7-40A9-9BCB-CA8A66E46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023EA8-527A-4FA2-A71D-626F91275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0C46CD6-ADBB-41BC-8969-7C707D433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6C38415-998B-45FB-A12C-BD0B184CB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C8D89F71-9459-4318-ACAE-874616C3A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0462" y="968188"/>
            <a:ext cx="10194046" cy="4894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435223-C47E-DB4E-A92C-E9181357C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7135045"/>
              </p:ext>
            </p:extLst>
          </p:nvPr>
        </p:nvGraphicFramePr>
        <p:xfrm>
          <a:off x="1322194" y="1766452"/>
          <a:ext cx="9550582" cy="3289788"/>
        </p:xfrm>
        <a:graphic>
          <a:graphicData uri="http://schemas.openxmlformats.org/drawingml/2006/table">
            <a:tbl>
              <a:tblPr/>
              <a:tblGrid>
                <a:gridCol w="4496664">
                  <a:extLst>
                    <a:ext uri="{9D8B030D-6E8A-4147-A177-3AD203B41FA5}">
                      <a16:colId xmlns:a16="http://schemas.microsoft.com/office/drawing/2014/main" val="1227081451"/>
                    </a:ext>
                  </a:extLst>
                </a:gridCol>
                <a:gridCol w="2526959">
                  <a:extLst>
                    <a:ext uri="{9D8B030D-6E8A-4147-A177-3AD203B41FA5}">
                      <a16:colId xmlns:a16="http://schemas.microsoft.com/office/drawing/2014/main" val="863615535"/>
                    </a:ext>
                  </a:extLst>
                </a:gridCol>
                <a:gridCol w="2526959">
                  <a:extLst>
                    <a:ext uri="{9D8B030D-6E8A-4147-A177-3AD203B41FA5}">
                      <a16:colId xmlns:a16="http://schemas.microsoft.com/office/drawing/2014/main" val="3195306409"/>
                    </a:ext>
                  </a:extLst>
                </a:gridCol>
              </a:tblGrid>
              <a:tr h="822447">
                <a:tc>
                  <a:txBody>
                    <a:bodyPr/>
                    <a:lstStyle/>
                    <a:p>
                      <a:pPr algn="l" fontAlgn="t"/>
                      <a:r>
                        <a:rPr lang="en-IN" sz="2200">
                          <a:solidFill>
                            <a:srgbClr val="A4A4A4"/>
                          </a:solidFill>
                          <a:effectLst/>
                        </a:rPr>
                        <a:t>Maximum length of an asset name and classification name</a:t>
                      </a:r>
                    </a:p>
                  </a:txBody>
                  <a:tcPr marL="111141" marR="111141" marT="55571" marB="5557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200">
                          <a:solidFill>
                            <a:srgbClr val="A4A4A4"/>
                          </a:solidFill>
                          <a:effectLst/>
                        </a:rPr>
                        <a:t>4 KB</a:t>
                      </a:r>
                    </a:p>
                  </a:txBody>
                  <a:tcPr marL="111141" marR="111141" marT="55571" marB="5557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200">
                          <a:solidFill>
                            <a:srgbClr val="A4A4A4"/>
                          </a:solidFill>
                          <a:effectLst/>
                        </a:rPr>
                        <a:t>4 KB</a:t>
                      </a:r>
                    </a:p>
                  </a:txBody>
                  <a:tcPr marL="111141" marR="111141" marT="55571" marB="5557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50885"/>
                  </a:ext>
                </a:extLst>
              </a:tr>
              <a:tr h="822447">
                <a:tc>
                  <a:txBody>
                    <a:bodyPr/>
                    <a:lstStyle/>
                    <a:p>
                      <a:pPr algn="l" fontAlgn="t"/>
                      <a:r>
                        <a:rPr lang="en-IN" sz="2200">
                          <a:solidFill>
                            <a:srgbClr val="A4A4A4"/>
                          </a:solidFill>
                          <a:effectLst/>
                        </a:rPr>
                        <a:t>Maximum length of asset property name and value</a:t>
                      </a:r>
                    </a:p>
                  </a:txBody>
                  <a:tcPr marL="111141" marR="111141" marT="55571" marB="5557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200">
                          <a:solidFill>
                            <a:srgbClr val="A4A4A4"/>
                          </a:solidFill>
                          <a:effectLst/>
                        </a:rPr>
                        <a:t>32 KB</a:t>
                      </a:r>
                    </a:p>
                  </a:txBody>
                  <a:tcPr marL="111141" marR="111141" marT="55571" marB="5557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200">
                          <a:solidFill>
                            <a:srgbClr val="A4A4A4"/>
                          </a:solidFill>
                          <a:effectLst/>
                        </a:rPr>
                        <a:t>32 KB</a:t>
                      </a:r>
                    </a:p>
                  </a:txBody>
                  <a:tcPr marL="111141" marR="111141" marT="55571" marB="5557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460127"/>
                  </a:ext>
                </a:extLst>
              </a:tr>
              <a:tr h="822447">
                <a:tc>
                  <a:txBody>
                    <a:bodyPr/>
                    <a:lstStyle/>
                    <a:p>
                      <a:pPr algn="l" fontAlgn="t"/>
                      <a:r>
                        <a:rPr lang="en-IN" sz="2200">
                          <a:solidFill>
                            <a:srgbClr val="A4A4A4"/>
                          </a:solidFill>
                          <a:effectLst/>
                        </a:rPr>
                        <a:t>Maximum length of classification attribute name and value</a:t>
                      </a:r>
                    </a:p>
                  </a:txBody>
                  <a:tcPr marL="111141" marR="111141" marT="55571" marB="5557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200">
                          <a:solidFill>
                            <a:srgbClr val="A4A4A4"/>
                          </a:solidFill>
                          <a:effectLst/>
                        </a:rPr>
                        <a:t>32 KB</a:t>
                      </a:r>
                    </a:p>
                  </a:txBody>
                  <a:tcPr marL="111141" marR="111141" marT="55571" marB="5557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200">
                          <a:solidFill>
                            <a:srgbClr val="A4A4A4"/>
                          </a:solidFill>
                          <a:effectLst/>
                        </a:rPr>
                        <a:t>32 KB</a:t>
                      </a:r>
                    </a:p>
                  </a:txBody>
                  <a:tcPr marL="111141" marR="111141" marT="55571" marB="5557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890175"/>
                  </a:ext>
                </a:extLst>
              </a:tr>
              <a:tr h="822447">
                <a:tc>
                  <a:txBody>
                    <a:bodyPr/>
                    <a:lstStyle/>
                    <a:p>
                      <a:pPr algn="l" fontAlgn="t"/>
                      <a:r>
                        <a:rPr lang="en-IN" sz="2200">
                          <a:solidFill>
                            <a:srgbClr val="A4A4A4"/>
                          </a:solidFill>
                          <a:effectLst/>
                        </a:rPr>
                        <a:t>Maximum number of glossary terms, per account</a:t>
                      </a:r>
                    </a:p>
                  </a:txBody>
                  <a:tcPr marL="111141" marR="111141" marT="55571" marB="5557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200">
                          <a:solidFill>
                            <a:srgbClr val="A4A4A4"/>
                          </a:solidFill>
                          <a:effectLst/>
                        </a:rPr>
                        <a:t>100K</a:t>
                      </a:r>
                    </a:p>
                  </a:txBody>
                  <a:tcPr marL="111141" marR="111141" marT="55571" marB="5557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200" dirty="0">
                          <a:solidFill>
                            <a:srgbClr val="A4A4A4"/>
                          </a:solidFill>
                          <a:effectLst/>
                        </a:rPr>
                        <a:t>100K</a:t>
                      </a:r>
                    </a:p>
                  </a:txBody>
                  <a:tcPr marL="111141" marR="111141" marT="55571" marB="5557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371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18015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{C14DEB73-30CB-204F-99A9-32E4F56A31EF}tf10001072</Template>
  <TotalTime>8</TotalTime>
  <Words>243</Words>
  <Application>Microsoft Macintosh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Franklin Gothic Book</vt:lpstr>
      <vt:lpstr>Crop</vt:lpstr>
      <vt:lpstr>Azure Purview - Limitations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Purview - Limitations</dc:title>
  <dc:creator>Nagaraj, Arun Kumar</dc:creator>
  <cp:lastModifiedBy>Nagaraj, Arun Kumar</cp:lastModifiedBy>
  <cp:revision>1</cp:revision>
  <dcterms:created xsi:type="dcterms:W3CDTF">2021-12-26T13:37:34Z</dcterms:created>
  <dcterms:modified xsi:type="dcterms:W3CDTF">2021-12-26T13:46:28Z</dcterms:modified>
</cp:coreProperties>
</file>