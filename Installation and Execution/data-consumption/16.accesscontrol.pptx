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42"/>
    <p:restoredTop sz="97155"/>
  </p:normalViewPr>
  <p:slideViewPr>
    <p:cSldViewPr snapToGrid="0" snapToObjects="1">
      <p:cViewPr varScale="1">
        <p:scale>
          <a:sx n="156" d="100"/>
          <a:sy n="156" d="100"/>
        </p:scale>
        <p:origin x="184"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A4C34D3F-9A08-6745-BDA2-18A7A1D4EFE6}" type="datetimeFigureOut">
              <a:rPr lang="en-US" smtClean="0"/>
              <a:t>12/26/21</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FCB02053-7C93-8E4A-AEBA-961D5E9485E2}"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00336554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4C34D3F-9A08-6745-BDA2-18A7A1D4EFE6}" type="datetimeFigureOut">
              <a:rPr lang="en-US" smtClean="0"/>
              <a:t>12/26/21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B02053-7C93-8E4A-AEBA-961D5E9485E2}" type="slidenum">
              <a:rPr lang="en-US" smtClean="0"/>
              <a:t>‹#›</a:t>
            </a:fld>
            <a:endParaRPr lang="en-US"/>
          </a:p>
        </p:txBody>
      </p:sp>
    </p:spTree>
    <p:extLst>
      <p:ext uri="{BB962C8B-B14F-4D97-AF65-F5344CB8AC3E}">
        <p14:creationId xmlns:p14="http://schemas.microsoft.com/office/powerpoint/2010/main" val="3750766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A4C34D3F-9A08-6745-BDA2-18A7A1D4EFE6}" type="datetimeFigureOut">
              <a:rPr lang="en-US" smtClean="0"/>
              <a:t>12/26/21</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FCB02053-7C93-8E4A-AEBA-961D5E9485E2}"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50530791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4C34D3F-9A08-6745-BDA2-18A7A1D4EFE6}" type="datetimeFigureOut">
              <a:rPr lang="en-US" smtClean="0"/>
              <a:t>12/26/21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B02053-7C93-8E4A-AEBA-961D5E9485E2}" type="slidenum">
              <a:rPr lang="en-US" smtClean="0"/>
              <a:t>‹#›</a:t>
            </a:fld>
            <a:endParaRPr lang="en-US"/>
          </a:p>
        </p:txBody>
      </p:sp>
    </p:spTree>
    <p:extLst>
      <p:ext uri="{BB962C8B-B14F-4D97-AF65-F5344CB8AC3E}">
        <p14:creationId xmlns:p14="http://schemas.microsoft.com/office/powerpoint/2010/main" val="1157932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4C34D3F-9A08-6745-BDA2-18A7A1D4EFE6}" type="datetimeFigureOut">
              <a:rPr lang="en-US" smtClean="0"/>
              <a:t>12/26/21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B02053-7C93-8E4A-AEBA-961D5E9485E2}" type="slidenum">
              <a:rPr lang="en-US" smtClean="0"/>
              <a:t>‹#›</a:t>
            </a:fld>
            <a:endParaRPr lang="en-US"/>
          </a:p>
        </p:txBody>
      </p:sp>
    </p:spTree>
    <p:extLst>
      <p:ext uri="{BB962C8B-B14F-4D97-AF65-F5344CB8AC3E}">
        <p14:creationId xmlns:p14="http://schemas.microsoft.com/office/powerpoint/2010/main" val="3584336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4C34D3F-9A08-6745-BDA2-18A7A1D4EFE6}" type="datetimeFigureOut">
              <a:rPr lang="en-US" smtClean="0"/>
              <a:t>12/26/21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B02053-7C93-8E4A-AEBA-961D5E9485E2}" type="slidenum">
              <a:rPr lang="en-US" smtClean="0"/>
              <a:t>‹#›</a:t>
            </a:fld>
            <a:endParaRPr lang="en-US"/>
          </a:p>
        </p:txBody>
      </p:sp>
    </p:spTree>
    <p:extLst>
      <p:ext uri="{BB962C8B-B14F-4D97-AF65-F5344CB8AC3E}">
        <p14:creationId xmlns:p14="http://schemas.microsoft.com/office/powerpoint/2010/main" val="556784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C34D3F-9A08-6745-BDA2-18A7A1D4EFE6}" type="datetimeFigureOut">
              <a:rPr lang="en-US" smtClean="0"/>
              <a:t>12/26/21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B02053-7C93-8E4A-AEBA-961D5E9485E2}" type="slidenum">
              <a:rPr lang="en-US" smtClean="0"/>
              <a:t>‹#›</a:t>
            </a:fld>
            <a:endParaRPr lang="en-US"/>
          </a:p>
        </p:txBody>
      </p:sp>
    </p:spTree>
    <p:extLst>
      <p:ext uri="{BB962C8B-B14F-4D97-AF65-F5344CB8AC3E}">
        <p14:creationId xmlns:p14="http://schemas.microsoft.com/office/powerpoint/2010/main" val="654736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4C34D3F-9A08-6745-BDA2-18A7A1D4EFE6}" type="datetimeFigureOut">
              <a:rPr lang="en-US" smtClean="0"/>
              <a:t>12/26/21</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FCB02053-7C93-8E4A-AEBA-961D5E9485E2}"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8803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4C34D3F-9A08-6745-BDA2-18A7A1D4EFE6}" type="datetimeFigureOut">
              <a:rPr lang="en-US" smtClean="0"/>
              <a:t>12/26/21</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FCB02053-7C93-8E4A-AEBA-961D5E9485E2}"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35035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4C34D3F-9A08-6745-BDA2-18A7A1D4EFE6}" type="datetimeFigureOut">
              <a:rPr lang="en-US" smtClean="0"/>
              <a:t>12/26/21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B02053-7C93-8E4A-AEBA-961D5E9485E2}" type="slidenum">
              <a:rPr lang="en-US" smtClean="0"/>
              <a:t>‹#›</a:t>
            </a:fld>
            <a:endParaRPr lang="en-US"/>
          </a:p>
        </p:txBody>
      </p:sp>
    </p:spTree>
    <p:extLst>
      <p:ext uri="{BB962C8B-B14F-4D97-AF65-F5344CB8AC3E}">
        <p14:creationId xmlns:p14="http://schemas.microsoft.com/office/powerpoint/2010/main" val="1391104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4C34D3F-9A08-6745-BDA2-18A7A1D4EFE6}" type="datetimeFigureOut">
              <a:rPr lang="en-US" smtClean="0"/>
              <a:t>12/26/21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B02053-7C93-8E4A-AEBA-961D5E9485E2}" type="slidenum">
              <a:rPr lang="en-US" smtClean="0"/>
              <a:t>‹#›</a:t>
            </a:fld>
            <a:endParaRPr lang="en-US"/>
          </a:p>
        </p:txBody>
      </p:sp>
    </p:spTree>
    <p:extLst>
      <p:ext uri="{BB962C8B-B14F-4D97-AF65-F5344CB8AC3E}">
        <p14:creationId xmlns:p14="http://schemas.microsoft.com/office/powerpoint/2010/main" val="3868756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A4C34D3F-9A08-6745-BDA2-18A7A1D4EFE6}" type="datetimeFigureOut">
              <a:rPr lang="en-US" smtClean="0"/>
              <a:t>12/26/21</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FCB02053-7C93-8E4A-AEBA-961D5E9485E2}"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246806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eb.purview.azure.com/resource/" TargetMode="External"/><Relationship Id="rId2" Type="http://schemas.openxmlformats.org/officeDocument/2006/relationships/hyperlink" Target="https://docs.microsoft.com/en-us/azure/purview/catalog-permissions#role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BA7F3F-D56F-4C06-84AC-03FC83B06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68FE6B-CB7A-42D9-9690-487E3B8F4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2785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F0F8C7-F448-7B4F-AAC1-D9028B2593B0}"/>
              </a:ext>
            </a:extLst>
          </p:cNvPr>
          <p:cNvSpPr>
            <a:spLocks noGrp="1"/>
          </p:cNvSpPr>
          <p:nvPr>
            <p:ph type="ctrTitle"/>
          </p:nvPr>
        </p:nvSpPr>
        <p:spPr>
          <a:xfrm>
            <a:off x="1196164" y="1188717"/>
            <a:ext cx="5627717" cy="4480563"/>
          </a:xfrm>
        </p:spPr>
        <p:txBody>
          <a:bodyPr anchor="ctr">
            <a:normAutofit fontScale="90000"/>
          </a:bodyPr>
          <a:lstStyle/>
          <a:p>
            <a:pPr algn="l"/>
            <a:r>
              <a:rPr lang="en-US" sz="6600" dirty="0">
                <a:solidFill>
                  <a:schemeClr val="bg2"/>
                </a:solidFill>
              </a:rPr>
              <a:t>Access control and Integration with other services in azure Purview</a:t>
            </a:r>
          </a:p>
        </p:txBody>
      </p:sp>
      <p:sp>
        <p:nvSpPr>
          <p:cNvPr id="3" name="Subtitle 2">
            <a:extLst>
              <a:ext uri="{FF2B5EF4-FFF2-40B4-BE49-F238E27FC236}">
                <a16:creationId xmlns:a16="http://schemas.microsoft.com/office/drawing/2014/main" id="{69497195-E7D7-0C43-A7F8-01691647802C}"/>
              </a:ext>
            </a:extLst>
          </p:cNvPr>
          <p:cNvSpPr>
            <a:spLocks noGrp="1"/>
          </p:cNvSpPr>
          <p:nvPr>
            <p:ph type="subTitle" idx="1"/>
          </p:nvPr>
        </p:nvSpPr>
        <p:spPr>
          <a:xfrm>
            <a:off x="8724015" y="1188717"/>
            <a:ext cx="2594343" cy="4480563"/>
          </a:xfrm>
        </p:spPr>
        <p:txBody>
          <a:bodyPr anchor="ctr">
            <a:normAutofit/>
          </a:bodyPr>
          <a:lstStyle/>
          <a:p>
            <a:pPr algn="l"/>
            <a:endParaRPr lang="en-US"/>
          </a:p>
        </p:txBody>
      </p:sp>
      <p:sp>
        <p:nvSpPr>
          <p:cNvPr id="12" name="Freeform 6">
            <a:extLst>
              <a:ext uri="{FF2B5EF4-FFF2-40B4-BE49-F238E27FC236}">
                <a16:creationId xmlns:a16="http://schemas.microsoft.com/office/drawing/2014/main" id="{2BCE8A39-72D0-46ED-AB46-91B68881D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7983434" y="640080"/>
            <a:ext cx="2296028" cy="3674981"/>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sp>
        <p:nvSpPr>
          <p:cNvPr id="14" name="Freeform: Shape 13">
            <a:extLst>
              <a:ext uri="{FF2B5EF4-FFF2-40B4-BE49-F238E27FC236}">
                <a16:creationId xmlns:a16="http://schemas.microsoft.com/office/drawing/2014/main" id="{970E03B3-76EE-4C15-B250-1173359CD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147112" y="4501036"/>
            <a:ext cx="1683805" cy="1723705"/>
          </a:xfrm>
          <a:custGeom>
            <a:avLst/>
            <a:gdLst>
              <a:gd name="connsiteX0" fmla="*/ 1399384 w 1683805"/>
              <a:gd name="connsiteY0" fmla="*/ 0 h 1723705"/>
              <a:gd name="connsiteX1" fmla="*/ 1683805 w 1683805"/>
              <a:gd name="connsiteY1" fmla="*/ 0 h 1723705"/>
              <a:gd name="connsiteX2" fmla="*/ 1683805 w 1683805"/>
              <a:gd name="connsiteY2" fmla="*/ 1723705 h 1723705"/>
              <a:gd name="connsiteX3" fmla="*/ 0 w 1683805"/>
              <a:gd name="connsiteY3" fmla="*/ 1723705 h 1723705"/>
              <a:gd name="connsiteX4" fmla="*/ 0 w 1683805"/>
              <a:gd name="connsiteY4" fmla="*/ 1402480 h 1723705"/>
              <a:gd name="connsiteX5" fmla="*/ 1399384 w 1683805"/>
              <a:gd name="connsiteY5" fmla="*/ 1403247 h 1723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3805" h="1723705">
                <a:moveTo>
                  <a:pt x="1399384" y="0"/>
                </a:moveTo>
                <a:lnTo>
                  <a:pt x="1683805" y="0"/>
                </a:lnTo>
                <a:lnTo>
                  <a:pt x="1683805" y="1723705"/>
                </a:lnTo>
                <a:lnTo>
                  <a:pt x="0" y="1723705"/>
                </a:lnTo>
                <a:lnTo>
                  <a:pt x="0" y="1402480"/>
                </a:lnTo>
                <a:lnTo>
                  <a:pt x="1399384" y="1403247"/>
                </a:lnTo>
                <a:close/>
              </a:path>
            </a:pathLst>
          </a:custGeom>
          <a:solidFill>
            <a:schemeClr val="tx2">
              <a:lumMod val="75000"/>
            </a:schemeClr>
          </a:solidFill>
          <a:ln w="0">
            <a:noFill/>
            <a:prstDash val="solid"/>
            <a:round/>
            <a:headEnd/>
            <a:tailEnd/>
          </a:ln>
        </p:spPr>
      </p:sp>
    </p:spTree>
    <p:extLst>
      <p:ext uri="{BB962C8B-B14F-4D97-AF65-F5344CB8AC3E}">
        <p14:creationId xmlns:p14="http://schemas.microsoft.com/office/powerpoint/2010/main" val="21195843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4388D-0EA4-564B-8E50-5C96D816927F}"/>
              </a:ext>
            </a:extLst>
          </p:cNvPr>
          <p:cNvSpPr>
            <a:spLocks noGrp="1"/>
          </p:cNvSpPr>
          <p:nvPr>
            <p:ph type="title"/>
          </p:nvPr>
        </p:nvSpPr>
        <p:spPr/>
        <p:txBody>
          <a:bodyPr/>
          <a:lstStyle/>
          <a:p>
            <a:r>
              <a:rPr lang="en-US" dirty="0"/>
              <a:t>Access Control</a:t>
            </a:r>
          </a:p>
        </p:txBody>
      </p:sp>
      <p:sp>
        <p:nvSpPr>
          <p:cNvPr id="3" name="Content Placeholder 2">
            <a:extLst>
              <a:ext uri="{FF2B5EF4-FFF2-40B4-BE49-F238E27FC236}">
                <a16:creationId xmlns:a16="http://schemas.microsoft.com/office/drawing/2014/main" id="{740A99B7-4509-6B4E-A33A-584642A4140A}"/>
              </a:ext>
            </a:extLst>
          </p:cNvPr>
          <p:cNvSpPr>
            <a:spLocks noGrp="1"/>
          </p:cNvSpPr>
          <p:nvPr>
            <p:ph idx="1"/>
          </p:nvPr>
        </p:nvSpPr>
        <p:spPr/>
        <p:txBody>
          <a:bodyPr>
            <a:normAutofit fontScale="77500" lnSpcReduction="20000"/>
          </a:bodyPr>
          <a:lstStyle/>
          <a:p>
            <a:r>
              <a:rPr lang="en-IN" dirty="0"/>
              <a:t>Azure Purview uses </a:t>
            </a:r>
            <a:r>
              <a:rPr lang="en-IN" b="1" dirty="0"/>
              <a:t>Collections</a:t>
            </a:r>
            <a:r>
              <a:rPr lang="en-IN" dirty="0"/>
              <a:t> to organize and manage access across its sources, assets, and other artifacts. This article describes collections and access management in your Azure Purview account. Azure Purview uses a set of predefined roles to control who can access what within the account. These roles are currently:</a:t>
            </a:r>
          </a:p>
          <a:p>
            <a:r>
              <a:rPr lang="en-IN" b="1" dirty="0"/>
              <a:t>Collection admins</a:t>
            </a:r>
            <a:r>
              <a:rPr lang="en-IN" dirty="0"/>
              <a:t> - a role for users that will need to assign roles to other users in Azure Purview or manage collections. Collection admins can add users to roles on collections where they're admins. They can also edit collections, their details, and add subcollections.</a:t>
            </a:r>
          </a:p>
          <a:p>
            <a:r>
              <a:rPr lang="en-IN" b="1" dirty="0"/>
              <a:t>Data curators</a:t>
            </a:r>
            <a:r>
              <a:rPr lang="en-IN" dirty="0"/>
              <a:t> - a role that provides access to the data </a:t>
            </a:r>
            <a:r>
              <a:rPr lang="en-IN" dirty="0" err="1"/>
              <a:t>catalog</a:t>
            </a:r>
            <a:r>
              <a:rPr lang="en-IN" dirty="0"/>
              <a:t> to manage assets, configure custom classifications, set up glossary terms, and view insights. Data curators can create, read, modify, move, and delete assets. They can also apply annotations to assets.</a:t>
            </a:r>
          </a:p>
          <a:p>
            <a:r>
              <a:rPr lang="en-IN" b="1" dirty="0"/>
              <a:t>Data readers</a:t>
            </a:r>
            <a:r>
              <a:rPr lang="en-IN" dirty="0"/>
              <a:t> - a role that provides read-only access to data assets, classifications, classification rules, collections and glossary terms.</a:t>
            </a:r>
          </a:p>
          <a:p>
            <a:r>
              <a:rPr lang="en-IN" b="1" dirty="0"/>
              <a:t>Data source admins</a:t>
            </a:r>
            <a:r>
              <a:rPr lang="en-IN" dirty="0"/>
              <a:t> - a role that allows a user to manage data sources and scans. If a user is granted only to </a:t>
            </a:r>
            <a:r>
              <a:rPr lang="en-IN" b="1" dirty="0"/>
              <a:t>Data source admin</a:t>
            </a:r>
            <a:r>
              <a:rPr lang="en-IN" dirty="0"/>
              <a:t> role on a given data source, they can run new scans using an existing scan rule. To create new scan rules, the user must be also granted as either </a:t>
            </a:r>
            <a:r>
              <a:rPr lang="en-IN" b="1" dirty="0"/>
              <a:t>Data reader</a:t>
            </a:r>
            <a:r>
              <a:rPr lang="en-IN" dirty="0"/>
              <a:t> or </a:t>
            </a:r>
            <a:r>
              <a:rPr lang="en-IN" b="1" dirty="0"/>
              <a:t>Data curator</a:t>
            </a:r>
            <a:r>
              <a:rPr lang="en-IN" dirty="0"/>
              <a:t> roles.</a:t>
            </a:r>
          </a:p>
          <a:p>
            <a:endParaRPr lang="en-US" dirty="0"/>
          </a:p>
        </p:txBody>
      </p:sp>
    </p:spTree>
    <p:extLst>
      <p:ext uri="{BB962C8B-B14F-4D97-AF65-F5344CB8AC3E}">
        <p14:creationId xmlns:p14="http://schemas.microsoft.com/office/powerpoint/2010/main" val="3110519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405A4-B3A2-AD40-8F0E-7D1FF2222D26}"/>
              </a:ext>
            </a:extLst>
          </p:cNvPr>
          <p:cNvSpPr>
            <a:spLocks noGrp="1"/>
          </p:cNvSpPr>
          <p:nvPr>
            <p:ph type="title"/>
          </p:nvPr>
        </p:nvSpPr>
        <p:spPr/>
        <p:txBody>
          <a:bodyPr/>
          <a:lstStyle/>
          <a:p>
            <a:r>
              <a:rPr lang="en-US" dirty="0"/>
              <a:t>Roles</a:t>
            </a:r>
          </a:p>
        </p:txBody>
      </p:sp>
      <p:graphicFrame>
        <p:nvGraphicFramePr>
          <p:cNvPr id="4" name="Content Placeholder 3">
            <a:extLst>
              <a:ext uri="{FF2B5EF4-FFF2-40B4-BE49-F238E27FC236}">
                <a16:creationId xmlns:a16="http://schemas.microsoft.com/office/drawing/2014/main" id="{75856834-10F7-5945-9272-9E1E2463FBBD}"/>
              </a:ext>
            </a:extLst>
          </p:cNvPr>
          <p:cNvGraphicFramePr>
            <a:graphicFrameLocks noGrp="1"/>
          </p:cNvGraphicFramePr>
          <p:nvPr>
            <p:ph idx="1"/>
            <p:extLst>
              <p:ext uri="{D42A27DB-BD31-4B8C-83A1-F6EECF244321}">
                <p14:modId xmlns:p14="http://schemas.microsoft.com/office/powerpoint/2010/main" val="3189022931"/>
              </p:ext>
            </p:extLst>
          </p:nvPr>
        </p:nvGraphicFramePr>
        <p:xfrm>
          <a:off x="1371599" y="2345906"/>
          <a:ext cx="9025848" cy="3602830"/>
        </p:xfrm>
        <a:graphic>
          <a:graphicData uri="http://schemas.openxmlformats.org/drawingml/2006/table">
            <a:tbl>
              <a:tblPr/>
              <a:tblGrid>
                <a:gridCol w="4512924">
                  <a:extLst>
                    <a:ext uri="{9D8B030D-6E8A-4147-A177-3AD203B41FA5}">
                      <a16:colId xmlns:a16="http://schemas.microsoft.com/office/drawing/2014/main" val="260404361"/>
                    </a:ext>
                  </a:extLst>
                </a:gridCol>
                <a:gridCol w="4512924">
                  <a:extLst>
                    <a:ext uri="{9D8B030D-6E8A-4147-A177-3AD203B41FA5}">
                      <a16:colId xmlns:a16="http://schemas.microsoft.com/office/drawing/2014/main" val="3790858435"/>
                    </a:ext>
                  </a:extLst>
                </a:gridCol>
              </a:tblGrid>
              <a:tr h="186006">
                <a:tc gridSpan="2">
                  <a:txBody>
                    <a:bodyPr/>
                    <a:lstStyle/>
                    <a:p>
                      <a:r>
                        <a:rPr lang="en-IN" sz="900"/>
                        <a:t>WHO SHOULD BE ASSIGNED TO WHAT ROLE?</a:t>
                      </a:r>
                    </a:p>
                  </a:txBody>
                  <a:tcPr marL="45334" marR="45334" marT="22667" marB="22667" anchor="ctr"/>
                </a:tc>
                <a:tc hMerge="1">
                  <a:txBody>
                    <a:bodyPr/>
                    <a:lstStyle/>
                    <a:p>
                      <a:endParaRPr lang="en-US"/>
                    </a:p>
                  </a:txBody>
                  <a:tcPr/>
                </a:tc>
                <a:extLst>
                  <a:ext uri="{0D108BD9-81ED-4DB2-BD59-A6C34878D82A}">
                    <a16:rowId xmlns:a16="http://schemas.microsoft.com/office/drawing/2014/main" val="2846673877"/>
                  </a:ext>
                </a:extLst>
              </a:tr>
              <a:tr h="186006">
                <a:tc>
                  <a:txBody>
                    <a:bodyPr/>
                    <a:lstStyle/>
                    <a:p>
                      <a:pPr algn="l" fontAlgn="t"/>
                      <a:r>
                        <a:rPr lang="en-IN" sz="900">
                          <a:effectLst/>
                        </a:rPr>
                        <a:t>User Scenario</a:t>
                      </a:r>
                    </a:p>
                  </a:txBody>
                  <a:tcPr marL="45334" marR="45334" marT="22667" marB="22667">
                    <a:lnL w="12700" cap="flat" cmpd="sng" algn="ctr">
                      <a:solidFill>
                        <a:srgbClr val="10A92E"/>
                      </a:solidFill>
                      <a:prstDash val="solid"/>
                      <a:round/>
                      <a:headEnd type="none" w="med" len="med"/>
                      <a:tailEnd type="none" w="med" len="med"/>
                    </a:lnL>
                    <a:lnR w="12700" cap="flat" cmpd="sng" algn="ctr">
                      <a:solidFill>
                        <a:srgbClr val="50AC2E"/>
                      </a:solidFill>
                      <a:prstDash val="solid"/>
                      <a:round/>
                      <a:headEnd type="none" w="med" len="med"/>
                      <a:tailEnd type="none" w="med" len="med"/>
                    </a:lnR>
                    <a:lnB w="9525" cap="flat" cmpd="sng" algn="ctr">
                      <a:solidFill>
                        <a:schemeClr val="bg1"/>
                      </a:solidFill>
                      <a:prstDash val="solid"/>
                      <a:round/>
                      <a:headEnd type="none" w="med" len="med"/>
                      <a:tailEnd type="none" w="med" len="med"/>
                    </a:lnB>
                  </a:tcPr>
                </a:tc>
                <a:tc>
                  <a:txBody>
                    <a:bodyPr/>
                    <a:lstStyle/>
                    <a:p>
                      <a:pPr algn="l" fontAlgn="t"/>
                      <a:r>
                        <a:rPr lang="en-IN" sz="900">
                          <a:effectLst/>
                        </a:rPr>
                        <a:t>Appropriate Role(s)</a:t>
                      </a:r>
                    </a:p>
                  </a:txBody>
                  <a:tcPr marL="45334" marR="45334" marT="22667" marB="22667">
                    <a:lnL w="12700" cap="flat" cmpd="sng" algn="ctr">
                      <a:solidFill>
                        <a:srgbClr val="50AC2E"/>
                      </a:solidFill>
                      <a:prstDash val="solid"/>
                      <a:round/>
                      <a:headEnd type="none" w="med" len="med"/>
                      <a:tailEnd type="none" w="med" len="med"/>
                    </a:lnL>
                    <a:lnR w="12700" cap="flat" cmpd="sng" algn="ctr">
                      <a:solidFill>
                        <a:srgbClr val="50AC2E"/>
                      </a:solidFill>
                      <a:prstDash val="solid"/>
                      <a:round/>
                      <a:headEnd type="none" w="med" len="med"/>
                      <a:tailEnd type="none" w="med" len="med"/>
                    </a:lnR>
                    <a:lnT>
                      <a:noFill/>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40098217"/>
                  </a:ext>
                </a:extLst>
              </a:tr>
              <a:tr h="317646">
                <a:tc>
                  <a:txBody>
                    <a:bodyPr/>
                    <a:lstStyle/>
                    <a:p>
                      <a:pPr algn="l" fontAlgn="t"/>
                      <a:r>
                        <a:rPr lang="en-IN" sz="900">
                          <a:effectLst/>
                        </a:rPr>
                        <a:t>I just need to find assets, I don't want to edit anything</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fontAlgn="t"/>
                      <a:r>
                        <a:rPr lang="en-IN" sz="900">
                          <a:effectLst/>
                        </a:rPr>
                        <a:t>Data Reader</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52821376"/>
                  </a:ext>
                </a:extLst>
              </a:tr>
              <a:tr h="453944">
                <a:tc>
                  <a:txBody>
                    <a:bodyPr/>
                    <a:lstStyle/>
                    <a:p>
                      <a:pPr algn="l" fontAlgn="t"/>
                      <a:r>
                        <a:rPr lang="en-IN" sz="900">
                          <a:effectLst/>
                        </a:rPr>
                        <a:t>I need to edit information about assets, assign classifications, associate them with glossary entries, and so on.</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fontAlgn="t"/>
                      <a:r>
                        <a:rPr lang="en-IN" sz="900">
                          <a:effectLst/>
                        </a:rPr>
                        <a:t>Data Curator</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44897530"/>
                  </a:ext>
                </a:extLst>
              </a:tr>
              <a:tr h="317646">
                <a:tc>
                  <a:txBody>
                    <a:bodyPr/>
                    <a:lstStyle/>
                    <a:p>
                      <a:pPr algn="l" fontAlgn="t"/>
                      <a:r>
                        <a:rPr lang="en-IN" sz="900">
                          <a:effectLst/>
                        </a:rPr>
                        <a:t>I need to edit the glossary or set up new classification definitions</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fontAlgn="t"/>
                      <a:r>
                        <a:rPr lang="en-IN" sz="900">
                          <a:effectLst/>
                        </a:rPr>
                        <a:t>Data Curator</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35624855"/>
                  </a:ext>
                </a:extLst>
              </a:tr>
              <a:tr h="453944">
                <a:tc>
                  <a:txBody>
                    <a:bodyPr/>
                    <a:lstStyle/>
                    <a:p>
                      <a:pPr algn="l" fontAlgn="t"/>
                      <a:r>
                        <a:rPr lang="en-IN" sz="900">
                          <a:effectLst/>
                        </a:rPr>
                        <a:t>I need to view Insights to understand the governance posture of my data estate</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fontAlgn="t"/>
                      <a:r>
                        <a:rPr lang="en-IN" sz="900">
                          <a:effectLst/>
                        </a:rPr>
                        <a:t>Data Curator</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53618647"/>
                  </a:ext>
                </a:extLst>
              </a:tr>
              <a:tr h="325806">
                <a:tc>
                  <a:txBody>
                    <a:bodyPr/>
                    <a:lstStyle/>
                    <a:p>
                      <a:pPr algn="l" fontAlgn="t"/>
                      <a:r>
                        <a:rPr lang="en-IN" sz="900">
                          <a:effectLst/>
                        </a:rPr>
                        <a:t>My application's Service Principal needs to push data to Azure Purview</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fontAlgn="t"/>
                      <a:r>
                        <a:rPr lang="en-IN" sz="900">
                          <a:effectLst/>
                        </a:rPr>
                        <a:t>Data Curator</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13389022"/>
                  </a:ext>
                </a:extLst>
              </a:tr>
              <a:tr h="453944">
                <a:tc>
                  <a:txBody>
                    <a:bodyPr/>
                    <a:lstStyle/>
                    <a:p>
                      <a:pPr algn="l" fontAlgn="t"/>
                      <a:r>
                        <a:rPr lang="en-IN" sz="900">
                          <a:effectLst/>
                        </a:rPr>
                        <a:t>I need to set up scans via the Purview Studio</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fontAlgn="t"/>
                      <a:r>
                        <a:rPr lang="en-IN" sz="900">
                          <a:effectLst/>
                        </a:rPr>
                        <a:t>Data Curator on the collection </a:t>
                      </a:r>
                      <a:r>
                        <a:rPr lang="en-IN" sz="900" b="1">
                          <a:effectLst/>
                        </a:rPr>
                        <a:t>or</a:t>
                      </a:r>
                      <a:r>
                        <a:rPr lang="en-IN" sz="900">
                          <a:effectLst/>
                        </a:rPr>
                        <a:t> Data Curator </a:t>
                      </a:r>
                      <a:r>
                        <a:rPr lang="en-IN" sz="900" b="1">
                          <a:effectLst/>
                        </a:rPr>
                        <a:t>And</a:t>
                      </a:r>
                      <a:r>
                        <a:rPr lang="en-IN" sz="900">
                          <a:effectLst/>
                        </a:rPr>
                        <a:t> Data Source Administrator where the source is registered</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09060393"/>
                  </a:ext>
                </a:extLst>
              </a:tr>
              <a:tr h="590242">
                <a:tc>
                  <a:txBody>
                    <a:bodyPr/>
                    <a:lstStyle/>
                    <a:p>
                      <a:pPr algn="l" fontAlgn="t"/>
                      <a:r>
                        <a:rPr lang="en-IN" sz="900">
                          <a:effectLst/>
                        </a:rPr>
                        <a:t>I need to enable a Service Principal or group to set up and monitor scans in Azure Purview without allowing them to access the catalog's information</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fontAlgn="t"/>
                      <a:r>
                        <a:rPr lang="en-IN" sz="900">
                          <a:effectLst/>
                        </a:rPr>
                        <a:t>Data Source Admin</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65403918"/>
                  </a:ext>
                </a:extLst>
              </a:tr>
              <a:tr h="317646">
                <a:tc>
                  <a:txBody>
                    <a:bodyPr/>
                    <a:lstStyle/>
                    <a:p>
                      <a:pPr algn="l" fontAlgn="t"/>
                      <a:r>
                        <a:rPr lang="en-IN" sz="900">
                          <a:effectLst/>
                        </a:rPr>
                        <a:t>I need to put users into roles in Azure Purview</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fontAlgn="t"/>
                      <a:r>
                        <a:rPr lang="en-IN" sz="900" dirty="0">
                          <a:effectLst/>
                        </a:rPr>
                        <a:t>Collection Admin</a:t>
                      </a:r>
                    </a:p>
                  </a:txBody>
                  <a:tcPr marL="45334" marR="45334" marT="22667" marB="22667">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50229364"/>
                  </a:ext>
                </a:extLst>
              </a:tr>
            </a:tbl>
          </a:graphicData>
        </a:graphic>
      </p:graphicFrame>
      <p:sp>
        <p:nvSpPr>
          <p:cNvPr id="5" name="Rectangle 1">
            <a:extLst>
              <a:ext uri="{FF2B5EF4-FFF2-40B4-BE49-F238E27FC236}">
                <a16:creationId xmlns:a16="http://schemas.microsoft.com/office/drawing/2014/main" id="{F578C63F-C4C3-C641-B82F-4E6BF5DA4B0E}"/>
              </a:ext>
            </a:extLst>
          </p:cNvPr>
          <p:cNvSpPr>
            <a:spLocks noChangeArrowheads="1"/>
          </p:cNvSpPr>
          <p:nvPr/>
        </p:nvSpPr>
        <p:spPr bwMode="auto">
          <a:xfrm>
            <a:off x="-8383119" y="-42674"/>
            <a:ext cx="27222912" cy="564660"/>
          </a:xfrm>
          <a:prstGeom prst="rect">
            <a:avLst/>
          </a:prstGeom>
          <a:solidFill>
            <a:srgbClr val="1717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E6E6E6"/>
                </a:solidFill>
                <a:effectLst/>
                <a:latin typeface="Segoe UI" panose="020B0502040204020203" pitchFamily="34" charset="0"/>
              </a:rPr>
              <a:t>Who should be assigned to what role?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3353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6B28-6DDF-9B4D-A215-69BD1197EA33}"/>
              </a:ext>
            </a:extLst>
          </p:cNvPr>
          <p:cNvSpPr>
            <a:spLocks noGrp="1"/>
          </p:cNvSpPr>
          <p:nvPr>
            <p:ph type="title"/>
          </p:nvPr>
        </p:nvSpPr>
        <p:spPr/>
        <p:txBody>
          <a:bodyPr/>
          <a:lstStyle/>
          <a:p>
            <a:r>
              <a:rPr lang="en-US" dirty="0"/>
              <a:t>Adding users to Roles</a:t>
            </a:r>
          </a:p>
        </p:txBody>
      </p:sp>
      <p:sp>
        <p:nvSpPr>
          <p:cNvPr id="3" name="Content Placeholder 2">
            <a:extLst>
              <a:ext uri="{FF2B5EF4-FFF2-40B4-BE49-F238E27FC236}">
                <a16:creationId xmlns:a16="http://schemas.microsoft.com/office/drawing/2014/main" id="{8BCA434E-87B3-8842-AFEF-C16D6190700B}"/>
              </a:ext>
            </a:extLst>
          </p:cNvPr>
          <p:cNvSpPr>
            <a:spLocks noGrp="1"/>
          </p:cNvSpPr>
          <p:nvPr>
            <p:ph idx="1"/>
          </p:nvPr>
        </p:nvSpPr>
        <p:spPr/>
        <p:txBody>
          <a:bodyPr/>
          <a:lstStyle/>
          <a:p>
            <a:r>
              <a:rPr lang="en-IN" b="1" dirty="0"/>
              <a:t>Add users to roles</a:t>
            </a:r>
          </a:p>
          <a:p>
            <a:r>
              <a:rPr lang="en-IN" dirty="0"/>
              <a:t>Role assignment is managed through the collections. Only a user with the </a:t>
            </a:r>
            <a:r>
              <a:rPr lang="en-IN" dirty="0">
                <a:hlinkClick r:id="rId2"/>
              </a:rPr>
              <a:t>collection admin role</a:t>
            </a:r>
            <a:r>
              <a:rPr lang="en-IN" dirty="0"/>
              <a:t> can grant permissions to other users on that collection. When new permissions need to be added, a collection admin will access the </a:t>
            </a:r>
            <a:r>
              <a:rPr lang="en-IN" dirty="0">
                <a:hlinkClick r:id="rId3"/>
              </a:rPr>
              <a:t>Purview Studio</a:t>
            </a:r>
            <a:r>
              <a:rPr lang="en-IN" dirty="0"/>
              <a:t>, navigate to data map, then the collections tab, and select the collection where a user needs to be added. From the Role Assignments tab they will be able to add and manage users who need permissions.</a:t>
            </a:r>
          </a:p>
          <a:p>
            <a:endParaRPr lang="en-US" dirty="0"/>
          </a:p>
        </p:txBody>
      </p:sp>
    </p:spTree>
    <p:extLst>
      <p:ext uri="{BB962C8B-B14F-4D97-AF65-F5344CB8AC3E}">
        <p14:creationId xmlns:p14="http://schemas.microsoft.com/office/powerpoint/2010/main" val="711449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9A6F1-CA65-0547-9AB1-558C607BDCF2}"/>
              </a:ext>
            </a:extLst>
          </p:cNvPr>
          <p:cNvSpPr>
            <a:spLocks noGrp="1"/>
          </p:cNvSpPr>
          <p:nvPr>
            <p:ph type="title"/>
          </p:nvPr>
        </p:nvSpPr>
        <p:spPr/>
        <p:txBody>
          <a:bodyPr/>
          <a:lstStyle/>
          <a:p>
            <a:r>
              <a:rPr lang="en-US" dirty="0"/>
              <a:t>Integration with Other services</a:t>
            </a:r>
          </a:p>
        </p:txBody>
      </p:sp>
      <p:sp>
        <p:nvSpPr>
          <p:cNvPr id="3" name="Content Placeholder 2">
            <a:extLst>
              <a:ext uri="{FF2B5EF4-FFF2-40B4-BE49-F238E27FC236}">
                <a16:creationId xmlns:a16="http://schemas.microsoft.com/office/drawing/2014/main" id="{CFBAC65E-7148-3844-9111-7F6CF5EBADCB}"/>
              </a:ext>
            </a:extLst>
          </p:cNvPr>
          <p:cNvSpPr>
            <a:spLocks noGrp="1"/>
          </p:cNvSpPr>
          <p:nvPr>
            <p:ph idx="1"/>
          </p:nvPr>
        </p:nvSpPr>
        <p:spPr/>
        <p:txBody>
          <a:bodyPr/>
          <a:lstStyle/>
          <a:p>
            <a:r>
              <a:rPr lang="en-US" dirty="0"/>
              <a:t>Purview can be integrated with </a:t>
            </a:r>
          </a:p>
          <a:p>
            <a:pPr lvl="1"/>
            <a:r>
              <a:rPr lang="en-US" dirty="0"/>
              <a:t>Azure Data Factory</a:t>
            </a:r>
          </a:p>
          <a:p>
            <a:pPr lvl="1"/>
            <a:r>
              <a:rPr lang="en-US" dirty="0"/>
              <a:t>Azure Synapse analytics</a:t>
            </a:r>
          </a:p>
        </p:txBody>
      </p:sp>
    </p:spTree>
    <p:extLst>
      <p:ext uri="{BB962C8B-B14F-4D97-AF65-F5344CB8AC3E}">
        <p14:creationId xmlns:p14="http://schemas.microsoft.com/office/powerpoint/2010/main" val="58686008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{C14DEB73-30CB-204F-99A9-32E4F56A31EF}tf10001072</Template>
  <TotalTime>3</TotalTime>
  <Words>536</Words>
  <Application>Microsoft Macintosh PowerPoint</Application>
  <PresentationFormat>Widescreen</PresentationFormat>
  <Paragraphs>35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Franklin Gothic Book</vt:lpstr>
      <vt:lpstr>Segoe UI</vt:lpstr>
      <vt:lpstr>Crop</vt:lpstr>
      <vt:lpstr>Access control and Integration with other services in azure Purview</vt:lpstr>
      <vt:lpstr>Access Control</vt:lpstr>
      <vt:lpstr>Roles</vt:lpstr>
      <vt:lpstr>Adding users to Roles</vt:lpstr>
      <vt:lpstr>Integration with Other services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control and Integration with other services in azure Purview</dc:title>
  <dc:creator>Nagaraj, Arun Kumar</dc:creator>
  <cp:lastModifiedBy>Nagaraj, Arun Kumar</cp:lastModifiedBy>
  <cp:revision>2</cp:revision>
  <dcterms:created xsi:type="dcterms:W3CDTF">2021-12-26T12:05:54Z</dcterms:created>
  <dcterms:modified xsi:type="dcterms:W3CDTF">2021-12-26T12:09:31Z</dcterms:modified>
</cp:coreProperties>
</file>