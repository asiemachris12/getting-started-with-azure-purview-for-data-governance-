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64" r:id="rId4"/>
    <p:sldId id="258"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34"/>
    <p:restoredTop sz="94679"/>
  </p:normalViewPr>
  <p:slideViewPr>
    <p:cSldViewPr snapToGrid="0" snapToObjects="1">
      <p:cViewPr varScale="1">
        <p:scale>
          <a:sx n="156" d="100"/>
          <a:sy n="156" d="100"/>
        </p:scale>
        <p:origin x="1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3830EFE7-34A4-BE46-AD1B-8B9DD2CEAD49}" type="datetimeFigureOut">
              <a:rPr lang="en-US" smtClean="0"/>
              <a:t>12/26/21</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27F11CDC-79B9-3146-AFA6-11AF8DCFF5A8}"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68628958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830EFE7-34A4-BE46-AD1B-8B9DD2CEAD49}"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F11CDC-79B9-3146-AFA6-11AF8DCFF5A8}" type="slidenum">
              <a:rPr lang="en-US" smtClean="0"/>
              <a:t>‹#›</a:t>
            </a:fld>
            <a:endParaRPr lang="en-US"/>
          </a:p>
        </p:txBody>
      </p:sp>
    </p:spTree>
    <p:extLst>
      <p:ext uri="{BB962C8B-B14F-4D97-AF65-F5344CB8AC3E}">
        <p14:creationId xmlns:p14="http://schemas.microsoft.com/office/powerpoint/2010/main" val="4282628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3830EFE7-34A4-BE46-AD1B-8B9DD2CEAD49}" type="datetimeFigureOut">
              <a:rPr lang="en-US" smtClean="0"/>
              <a:t>12/26/21</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7F11CDC-79B9-3146-AFA6-11AF8DCFF5A8}"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6624362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830EFE7-34A4-BE46-AD1B-8B9DD2CEAD49}" type="datetimeFigureOut">
              <a:rPr lang="en-US" smtClean="0"/>
              <a:t>12/26/21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F11CDC-79B9-3146-AFA6-11AF8DCFF5A8}" type="slidenum">
              <a:rPr lang="en-US" smtClean="0"/>
              <a:t>‹#›</a:t>
            </a:fld>
            <a:endParaRPr lang="en-US"/>
          </a:p>
        </p:txBody>
      </p:sp>
    </p:spTree>
    <p:extLst>
      <p:ext uri="{BB962C8B-B14F-4D97-AF65-F5344CB8AC3E}">
        <p14:creationId xmlns:p14="http://schemas.microsoft.com/office/powerpoint/2010/main" val="3126785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830EFE7-34A4-BE46-AD1B-8B9DD2CEAD49}" type="datetimeFigureOut">
              <a:rPr lang="en-US" smtClean="0"/>
              <a:t>12/26/21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F11CDC-79B9-3146-AFA6-11AF8DCFF5A8}" type="slidenum">
              <a:rPr lang="en-US" smtClean="0"/>
              <a:t>‹#›</a:t>
            </a:fld>
            <a:endParaRPr lang="en-US"/>
          </a:p>
        </p:txBody>
      </p:sp>
    </p:spTree>
    <p:extLst>
      <p:ext uri="{BB962C8B-B14F-4D97-AF65-F5344CB8AC3E}">
        <p14:creationId xmlns:p14="http://schemas.microsoft.com/office/powerpoint/2010/main" val="1196342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830EFE7-34A4-BE46-AD1B-8B9DD2CEAD49}" type="datetimeFigureOut">
              <a:rPr lang="en-US" smtClean="0"/>
              <a:t>12/26/21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F11CDC-79B9-3146-AFA6-11AF8DCFF5A8}" type="slidenum">
              <a:rPr lang="en-US" smtClean="0"/>
              <a:t>‹#›</a:t>
            </a:fld>
            <a:endParaRPr lang="en-US"/>
          </a:p>
        </p:txBody>
      </p:sp>
    </p:spTree>
    <p:extLst>
      <p:ext uri="{BB962C8B-B14F-4D97-AF65-F5344CB8AC3E}">
        <p14:creationId xmlns:p14="http://schemas.microsoft.com/office/powerpoint/2010/main" val="2604505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30EFE7-34A4-BE46-AD1B-8B9DD2CEAD49}" type="datetimeFigureOut">
              <a:rPr lang="en-US" smtClean="0"/>
              <a:t>12/26/21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F11CDC-79B9-3146-AFA6-11AF8DCFF5A8}" type="slidenum">
              <a:rPr lang="en-US" smtClean="0"/>
              <a:t>‹#›</a:t>
            </a:fld>
            <a:endParaRPr lang="en-US"/>
          </a:p>
        </p:txBody>
      </p:sp>
    </p:spTree>
    <p:extLst>
      <p:ext uri="{BB962C8B-B14F-4D97-AF65-F5344CB8AC3E}">
        <p14:creationId xmlns:p14="http://schemas.microsoft.com/office/powerpoint/2010/main" val="4018068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3830EFE7-34A4-BE46-AD1B-8B9DD2CEAD49}" type="datetimeFigureOut">
              <a:rPr lang="en-US" smtClean="0"/>
              <a:t>12/26/21</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7F11CDC-79B9-3146-AFA6-11AF8DCFF5A8}"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29372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3830EFE7-34A4-BE46-AD1B-8B9DD2CEAD49}" type="datetimeFigureOut">
              <a:rPr lang="en-US" smtClean="0"/>
              <a:t>12/26/21</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7F11CDC-79B9-3146-AFA6-11AF8DCFF5A8}"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82159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830EFE7-34A4-BE46-AD1B-8B9DD2CEAD49}"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F11CDC-79B9-3146-AFA6-11AF8DCFF5A8}" type="slidenum">
              <a:rPr lang="en-US" smtClean="0"/>
              <a:t>‹#›</a:t>
            </a:fld>
            <a:endParaRPr lang="en-US"/>
          </a:p>
        </p:txBody>
      </p:sp>
    </p:spTree>
    <p:extLst>
      <p:ext uri="{BB962C8B-B14F-4D97-AF65-F5344CB8AC3E}">
        <p14:creationId xmlns:p14="http://schemas.microsoft.com/office/powerpoint/2010/main" val="3358155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830EFE7-34A4-BE46-AD1B-8B9DD2CEAD49}"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F11CDC-79B9-3146-AFA6-11AF8DCFF5A8}" type="slidenum">
              <a:rPr lang="en-US" smtClean="0"/>
              <a:t>‹#›</a:t>
            </a:fld>
            <a:endParaRPr lang="en-US"/>
          </a:p>
        </p:txBody>
      </p:sp>
    </p:spTree>
    <p:extLst>
      <p:ext uri="{BB962C8B-B14F-4D97-AF65-F5344CB8AC3E}">
        <p14:creationId xmlns:p14="http://schemas.microsoft.com/office/powerpoint/2010/main" val="1937487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3830EFE7-34A4-BE46-AD1B-8B9DD2CEAD49}" type="datetimeFigureOut">
              <a:rPr lang="en-US" smtClean="0"/>
              <a:t>12/26/21</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27F11CDC-79B9-3146-AFA6-11AF8DCFF5A8}"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073375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00093-FF0F-E745-BF25-7550FB03040D}"/>
              </a:ext>
            </a:extLst>
          </p:cNvPr>
          <p:cNvSpPr>
            <a:spLocks noGrp="1"/>
          </p:cNvSpPr>
          <p:nvPr>
            <p:ph type="ctrTitle"/>
          </p:nvPr>
        </p:nvSpPr>
        <p:spPr/>
        <p:txBody>
          <a:bodyPr/>
          <a:lstStyle/>
          <a:p>
            <a:r>
              <a:rPr lang="en-US" dirty="0"/>
              <a:t>Azure Purview Glossary</a:t>
            </a:r>
          </a:p>
        </p:txBody>
      </p:sp>
      <p:sp>
        <p:nvSpPr>
          <p:cNvPr id="3" name="Subtitle 2">
            <a:extLst>
              <a:ext uri="{FF2B5EF4-FFF2-40B4-BE49-F238E27FC236}">
                <a16:creationId xmlns:a16="http://schemas.microsoft.com/office/drawing/2014/main" id="{034E622E-6D19-8D44-A8D5-B8843A2C2DA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08964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4D312-A083-1244-A591-BF0ADBE7BD4A}"/>
              </a:ext>
            </a:extLst>
          </p:cNvPr>
          <p:cNvSpPr>
            <a:spLocks noGrp="1"/>
          </p:cNvSpPr>
          <p:nvPr>
            <p:ph type="title"/>
          </p:nvPr>
        </p:nvSpPr>
        <p:spPr/>
        <p:txBody>
          <a:bodyPr/>
          <a:lstStyle/>
          <a:p>
            <a:r>
              <a:rPr lang="en-US" dirty="0"/>
              <a:t>Business Glossary</a:t>
            </a:r>
          </a:p>
        </p:txBody>
      </p:sp>
      <p:sp>
        <p:nvSpPr>
          <p:cNvPr id="3" name="Content Placeholder 2">
            <a:extLst>
              <a:ext uri="{FF2B5EF4-FFF2-40B4-BE49-F238E27FC236}">
                <a16:creationId xmlns:a16="http://schemas.microsoft.com/office/drawing/2014/main" id="{83D3E096-E9B8-6248-A11F-91DFC82C9B01}"/>
              </a:ext>
            </a:extLst>
          </p:cNvPr>
          <p:cNvSpPr>
            <a:spLocks noGrp="1"/>
          </p:cNvSpPr>
          <p:nvPr>
            <p:ph idx="1"/>
          </p:nvPr>
        </p:nvSpPr>
        <p:spPr/>
        <p:txBody>
          <a:bodyPr>
            <a:normAutofit fontScale="85000" lnSpcReduction="10000"/>
          </a:bodyPr>
          <a:lstStyle/>
          <a:p>
            <a:r>
              <a:rPr lang="en-IN" dirty="0"/>
              <a:t>A glossary provides vocabulary for business users.  It consists of business terms that can be related to each other and allows them to be categorized so that they can be understood in different contexts. These terms can be then mapped to assets like a database, tables, columns etc. This helps in abstracting the technical jargon associated with the data repositories and allows the business user to discover and work with data in the vocabulary that is more familiar to them.</a:t>
            </a:r>
          </a:p>
          <a:p>
            <a:r>
              <a:rPr lang="en-IN" dirty="0"/>
              <a:t>A business glossary is a collection of terms. Each term represents an object in an organization and it is highly likely that there are multiple terms representing the same object. A customer could also be referred to as client, purchaser, or buyer. These multiple terms have a relationship with each other. The relationship between these terms could one of the following:</a:t>
            </a:r>
          </a:p>
          <a:p>
            <a:pPr lvl="1"/>
            <a:r>
              <a:rPr lang="en-IN" dirty="0"/>
              <a:t>synonyms - different terms with the same definition</a:t>
            </a:r>
          </a:p>
          <a:p>
            <a:pPr lvl="1"/>
            <a:r>
              <a:rPr lang="en-IN" dirty="0"/>
              <a:t>related - different name with similar definition</a:t>
            </a:r>
          </a:p>
          <a:p>
            <a:r>
              <a:rPr lang="en-IN" dirty="0"/>
              <a:t>The same term can also imply multiple business objects. It is important that each term is well-defined and clearly understood within the organization.</a:t>
            </a:r>
          </a:p>
          <a:p>
            <a:endParaRPr lang="en-US" dirty="0"/>
          </a:p>
        </p:txBody>
      </p:sp>
    </p:spTree>
    <p:extLst>
      <p:ext uri="{BB962C8B-B14F-4D97-AF65-F5344CB8AC3E}">
        <p14:creationId xmlns:p14="http://schemas.microsoft.com/office/powerpoint/2010/main" val="518588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1B0A8-D517-5849-98B6-660C81FA9D39}"/>
              </a:ext>
            </a:extLst>
          </p:cNvPr>
          <p:cNvSpPr>
            <a:spLocks noGrp="1"/>
          </p:cNvSpPr>
          <p:nvPr>
            <p:ph type="title"/>
          </p:nvPr>
        </p:nvSpPr>
        <p:spPr>
          <a:xfrm>
            <a:off x="767290" y="1780661"/>
            <a:ext cx="3582073" cy="1463472"/>
          </a:xfrm>
        </p:spPr>
        <p:txBody>
          <a:bodyPr anchor="t">
            <a:normAutofit fontScale="90000"/>
          </a:bodyPr>
          <a:lstStyle/>
          <a:p>
            <a:r>
              <a:rPr lang="en-US" sz="3400" dirty="0"/>
              <a:t>Schema Detection and Business Glossary</a:t>
            </a:r>
            <a:br>
              <a:rPr lang="en-US" sz="3400" dirty="0"/>
            </a:br>
            <a:endParaRPr lang="en-US" sz="3400" dirty="0"/>
          </a:p>
        </p:txBody>
      </p:sp>
      <p:sp>
        <p:nvSpPr>
          <p:cNvPr id="3" name="Content Placeholder 2">
            <a:extLst>
              <a:ext uri="{FF2B5EF4-FFF2-40B4-BE49-F238E27FC236}">
                <a16:creationId xmlns:a16="http://schemas.microsoft.com/office/drawing/2014/main" id="{8A85BEDC-A731-4149-94C4-0BE897612F1A}"/>
              </a:ext>
            </a:extLst>
          </p:cNvPr>
          <p:cNvSpPr>
            <a:spLocks noGrp="1"/>
          </p:cNvSpPr>
          <p:nvPr>
            <p:ph idx="1"/>
          </p:nvPr>
        </p:nvSpPr>
        <p:spPr>
          <a:xfrm>
            <a:off x="767290" y="3383121"/>
            <a:ext cx="3582072" cy="2793251"/>
          </a:xfrm>
        </p:spPr>
        <p:txBody>
          <a:bodyPr anchor="t">
            <a:normAutofit lnSpcReduction="10000"/>
          </a:bodyPr>
          <a:lstStyle/>
          <a:p>
            <a:r>
              <a:rPr lang="en-US" sz="2000" dirty="0"/>
              <a:t>Azure Purview identifies the schema during the data scanning/crawling process</a:t>
            </a:r>
          </a:p>
          <a:p>
            <a:r>
              <a:rPr lang="en-US" sz="2000" dirty="0"/>
              <a:t>Azure Purview supports the creation of business glossary terms that can be used and mapped with the metadata created in the purview metadata catalog</a:t>
            </a:r>
          </a:p>
          <a:p>
            <a:endParaRPr lang="en-US" sz="2000" dirty="0"/>
          </a:p>
          <a:p>
            <a:pPr marL="0" indent="0">
              <a:buNone/>
            </a:pPr>
            <a:endParaRPr lang="en-US" sz="2000" dirty="0"/>
          </a:p>
          <a:p>
            <a:endParaRPr lang="en-US" sz="2000" dirty="0"/>
          </a:p>
        </p:txBody>
      </p:sp>
      <p:pic>
        <p:nvPicPr>
          <p:cNvPr id="5" name="Picture 4">
            <a:extLst>
              <a:ext uri="{FF2B5EF4-FFF2-40B4-BE49-F238E27FC236}">
                <a16:creationId xmlns:a16="http://schemas.microsoft.com/office/drawing/2014/main" id="{F14F74C7-72F8-6A44-9F33-2A13216B70F1}"/>
              </a:ext>
            </a:extLst>
          </p:cNvPr>
          <p:cNvPicPr>
            <a:picLocks noChangeAspect="1"/>
          </p:cNvPicPr>
          <p:nvPr/>
        </p:nvPicPr>
        <p:blipFill>
          <a:blip r:embed="rId2"/>
          <a:stretch>
            <a:fillRect/>
          </a:stretch>
        </p:blipFill>
        <p:spPr>
          <a:xfrm>
            <a:off x="5116652" y="1778164"/>
            <a:ext cx="6642532" cy="2723438"/>
          </a:xfrm>
          <a:prstGeom prst="rect">
            <a:avLst/>
          </a:prstGeom>
        </p:spPr>
      </p:pic>
    </p:spTree>
    <p:extLst>
      <p:ext uri="{BB962C8B-B14F-4D97-AF65-F5344CB8AC3E}">
        <p14:creationId xmlns:p14="http://schemas.microsoft.com/office/powerpoint/2010/main" val="813347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9BF2A-E818-6D4D-9974-11C2DBF77F70}"/>
              </a:ext>
            </a:extLst>
          </p:cNvPr>
          <p:cNvSpPr>
            <a:spLocks noGrp="1"/>
          </p:cNvSpPr>
          <p:nvPr>
            <p:ph type="title"/>
          </p:nvPr>
        </p:nvSpPr>
        <p:spPr/>
        <p:txBody>
          <a:bodyPr/>
          <a:lstStyle/>
          <a:p>
            <a:r>
              <a:rPr lang="en-US" dirty="0"/>
              <a:t>Creating/Importing Glossary in Purview</a:t>
            </a:r>
          </a:p>
        </p:txBody>
      </p:sp>
      <p:sp>
        <p:nvSpPr>
          <p:cNvPr id="3" name="Content Placeholder 2">
            <a:extLst>
              <a:ext uri="{FF2B5EF4-FFF2-40B4-BE49-F238E27FC236}">
                <a16:creationId xmlns:a16="http://schemas.microsoft.com/office/drawing/2014/main" id="{D3E8BF6C-811C-2D41-8C6C-09A6908B2D8B}"/>
              </a:ext>
            </a:extLst>
          </p:cNvPr>
          <p:cNvSpPr>
            <a:spLocks noGrp="1"/>
          </p:cNvSpPr>
          <p:nvPr>
            <p:ph idx="1"/>
          </p:nvPr>
        </p:nvSpPr>
        <p:spPr/>
        <p:txBody>
          <a:bodyPr/>
          <a:lstStyle/>
          <a:p>
            <a:r>
              <a:rPr lang="en-US" dirty="0"/>
              <a:t>Navigate to azure portal</a:t>
            </a:r>
          </a:p>
          <a:p>
            <a:r>
              <a:rPr lang="en-US" dirty="0"/>
              <a:t>Search for the azure purview accounts which we created.</a:t>
            </a:r>
          </a:p>
          <a:p>
            <a:r>
              <a:rPr lang="en-US" dirty="0"/>
              <a:t>Open Azure purview studio , from the home page click on manage glossary</a:t>
            </a:r>
          </a:p>
          <a:p>
            <a:r>
              <a:rPr lang="en-US" dirty="0"/>
              <a:t>From the place you can import terms or create a new term.</a:t>
            </a:r>
          </a:p>
          <a:p>
            <a:r>
              <a:rPr lang="en-US" dirty="0"/>
              <a:t>A specific way needs to be followed if you are importing as a terms.</a:t>
            </a:r>
          </a:p>
          <a:p>
            <a:endParaRPr lang="en-US" dirty="0"/>
          </a:p>
        </p:txBody>
      </p:sp>
    </p:spTree>
    <p:extLst>
      <p:ext uri="{BB962C8B-B14F-4D97-AF65-F5344CB8AC3E}">
        <p14:creationId xmlns:p14="http://schemas.microsoft.com/office/powerpoint/2010/main" val="2171912962"/>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{C14DEB73-30CB-204F-99A9-32E4F56A31EF}tf10001072</Template>
  <TotalTime>113</TotalTime>
  <Words>302</Words>
  <Application>Microsoft Macintosh PowerPoint</Application>
  <PresentationFormat>Widescreen</PresentationFormat>
  <Paragraphs>17</Paragraphs>
  <Slides>4</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4</vt:i4>
      </vt:variant>
    </vt:vector>
  </HeadingPairs>
  <TitlesOfParts>
    <vt:vector size="6" baseType="lpstr">
      <vt:lpstr>Franklin Gothic Book</vt:lpstr>
      <vt:lpstr>Crop</vt:lpstr>
      <vt:lpstr>Azure Purview Glossary</vt:lpstr>
      <vt:lpstr>Business Glossary</vt:lpstr>
      <vt:lpstr>Schema Detection and Business Glossary </vt:lpstr>
      <vt:lpstr>Creating/Importing Glossary in Purview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Purview Glossary</dc:title>
  <dc:creator>Nagaraj, Arun Kumar</dc:creator>
  <cp:lastModifiedBy>Nagaraj, Arun Kumar</cp:lastModifiedBy>
  <cp:revision>2</cp:revision>
  <dcterms:created xsi:type="dcterms:W3CDTF">2021-12-26T10:12:26Z</dcterms:created>
  <dcterms:modified xsi:type="dcterms:W3CDTF">2021-12-26T12:05:49Z</dcterms:modified>
</cp:coreProperties>
</file>